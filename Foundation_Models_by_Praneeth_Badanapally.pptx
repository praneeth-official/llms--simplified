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9E5D5-7F84-4E19-8CF7-442B0B18BA0B}" v="143" dt="2026-09-14T15:54:08.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7ADC7D-B552-46BD-9286-70DB260A4207}" type="doc">
      <dgm:prSet loTypeId="urn:microsoft.com/office/officeart/2005/8/layout/process2" loCatId="process" qsTypeId="urn:microsoft.com/office/officeart/2005/8/quickstyle/3d3" qsCatId="3D" csTypeId="urn:microsoft.com/office/officeart/2005/8/colors/accent4_2" csCatId="accent4" phldr="1"/>
      <dgm:spPr/>
    </dgm:pt>
    <dgm:pt modelId="{C313E4CE-37DD-4399-87AE-5F1C7EB177EB}">
      <dgm:prSet phldrT="[Text]" phldr="0"/>
      <dgm:spPr/>
      <dgm:t>
        <a:bodyPr/>
        <a:lstStyle/>
        <a:p>
          <a:r>
            <a:rPr lang="en-GB" dirty="0">
              <a:latin typeface="Felix Titling"/>
            </a:rPr>
            <a:t>Data</a:t>
          </a:r>
          <a:endParaRPr lang="en-GB" dirty="0"/>
        </a:p>
      </dgm:t>
    </dgm:pt>
    <dgm:pt modelId="{E76ACCAC-57A7-4AAC-AD86-65694A596A95}" type="parTrans" cxnId="{4807BDE1-C6C5-4212-AFF3-926C91666A3D}">
      <dgm:prSet/>
      <dgm:spPr/>
    </dgm:pt>
    <dgm:pt modelId="{244DEF91-8BD0-4C3B-9770-8E489E18BBDA}" type="sibTrans" cxnId="{4807BDE1-C6C5-4212-AFF3-926C91666A3D}">
      <dgm:prSet/>
      <dgm:spPr/>
      <dgm:t>
        <a:bodyPr/>
        <a:lstStyle/>
        <a:p>
          <a:endParaRPr lang="en-GB"/>
        </a:p>
      </dgm:t>
    </dgm:pt>
    <dgm:pt modelId="{9D60CA0C-5403-46FA-99BC-33FBA4B52995}">
      <dgm:prSet phldrT="[Text]" phldr="0"/>
      <dgm:spPr/>
      <dgm:t>
        <a:bodyPr/>
        <a:lstStyle/>
        <a:p>
          <a:r>
            <a:rPr lang="en-GB" dirty="0">
              <a:latin typeface="Felix Titling"/>
            </a:rPr>
            <a:t>Pretraining</a:t>
          </a:r>
          <a:endParaRPr lang="en-GB" dirty="0"/>
        </a:p>
      </dgm:t>
    </dgm:pt>
    <dgm:pt modelId="{5F356B41-79BA-4095-A212-6FFCA151F656}" type="parTrans" cxnId="{7EA35CA6-6C22-47BD-A951-CE1A9E979419}">
      <dgm:prSet/>
      <dgm:spPr/>
    </dgm:pt>
    <dgm:pt modelId="{9F1CD858-0090-4ACD-8508-C7935455A8DC}" type="sibTrans" cxnId="{7EA35CA6-6C22-47BD-A951-CE1A9E979419}">
      <dgm:prSet/>
      <dgm:spPr/>
      <dgm:t>
        <a:bodyPr/>
        <a:lstStyle/>
        <a:p>
          <a:endParaRPr lang="en-GB"/>
        </a:p>
      </dgm:t>
    </dgm:pt>
    <dgm:pt modelId="{448A63DE-BBD6-4A31-9C28-88FB33EFFA99}">
      <dgm:prSet phldrT="[Text]" phldr="0"/>
      <dgm:spPr/>
      <dgm:t>
        <a:bodyPr/>
        <a:lstStyle/>
        <a:p>
          <a:pPr rtl="0"/>
          <a:r>
            <a:rPr lang="en-GB" dirty="0">
              <a:latin typeface="Felix Titling"/>
            </a:rPr>
            <a:t>Post training</a:t>
          </a:r>
          <a:endParaRPr lang="en-GB" dirty="0"/>
        </a:p>
      </dgm:t>
    </dgm:pt>
    <dgm:pt modelId="{C665FAB9-AAE8-45DE-BC23-6888CE5E6805}" type="parTrans" cxnId="{D3FD2746-450F-4A32-B989-D0F5B0A2E36C}">
      <dgm:prSet/>
      <dgm:spPr/>
    </dgm:pt>
    <dgm:pt modelId="{36954383-01FA-4300-BC6F-82EFFEB8483F}" type="sibTrans" cxnId="{D3FD2746-450F-4A32-B989-D0F5B0A2E36C}">
      <dgm:prSet/>
      <dgm:spPr/>
      <dgm:t>
        <a:bodyPr/>
        <a:lstStyle/>
        <a:p>
          <a:endParaRPr lang="en-GB"/>
        </a:p>
      </dgm:t>
    </dgm:pt>
    <dgm:pt modelId="{C334EDA0-4F26-431E-B90A-5F485CD036AF}">
      <dgm:prSet phldrT="[Text]" phldr="0"/>
      <dgm:spPr/>
      <dgm:t>
        <a:bodyPr/>
        <a:lstStyle/>
        <a:p>
          <a:r>
            <a:rPr lang="en-GB" dirty="0">
              <a:latin typeface="Felix Titling"/>
            </a:rPr>
            <a:t>Model</a:t>
          </a:r>
        </a:p>
      </dgm:t>
    </dgm:pt>
    <dgm:pt modelId="{EED79F8B-7702-45AC-84E5-948D318C1788}" type="parTrans" cxnId="{ABC6E913-4C45-404B-805A-7D23CE6413C4}">
      <dgm:prSet/>
      <dgm:spPr/>
    </dgm:pt>
    <dgm:pt modelId="{7E407F9D-728C-46EB-8939-44CB3D3F467E}" type="sibTrans" cxnId="{ABC6E913-4C45-404B-805A-7D23CE6413C4}">
      <dgm:prSet/>
      <dgm:spPr/>
      <dgm:t>
        <a:bodyPr/>
        <a:lstStyle/>
        <a:p>
          <a:endParaRPr lang="en-GB"/>
        </a:p>
      </dgm:t>
    </dgm:pt>
    <dgm:pt modelId="{33CAE8A8-2089-43F1-AEC3-A2990198F403}">
      <dgm:prSet phldrT="[Text]" phldr="0"/>
      <dgm:spPr/>
      <dgm:t>
        <a:bodyPr/>
        <a:lstStyle/>
        <a:p>
          <a:r>
            <a:rPr lang="en-GB" dirty="0">
              <a:latin typeface="Felix Titling"/>
            </a:rPr>
            <a:t>Prompt/RAG/Finetune</a:t>
          </a:r>
        </a:p>
      </dgm:t>
    </dgm:pt>
    <dgm:pt modelId="{C2A3218E-FA92-4FC6-8A01-9464E2E6B185}" type="parTrans" cxnId="{54496756-01A6-44AE-991D-78954AD810AA}">
      <dgm:prSet/>
      <dgm:spPr/>
    </dgm:pt>
    <dgm:pt modelId="{24C54D69-EF61-45CF-993D-DA79C2EA1141}" type="sibTrans" cxnId="{54496756-01A6-44AE-991D-78954AD810AA}">
      <dgm:prSet/>
      <dgm:spPr/>
      <dgm:t>
        <a:bodyPr/>
        <a:lstStyle/>
        <a:p>
          <a:endParaRPr lang="en-GB"/>
        </a:p>
      </dgm:t>
    </dgm:pt>
    <dgm:pt modelId="{B827EF6C-8F03-4314-80B2-C0B7F24D0F13}">
      <dgm:prSet phldrT="[Text]" phldr="0"/>
      <dgm:spPr/>
      <dgm:t>
        <a:bodyPr/>
        <a:lstStyle/>
        <a:p>
          <a:r>
            <a:rPr lang="en-GB" dirty="0">
              <a:latin typeface="Felix Titling"/>
            </a:rPr>
            <a:t>Tools/Memory/Agent</a:t>
          </a:r>
        </a:p>
      </dgm:t>
    </dgm:pt>
    <dgm:pt modelId="{619D158C-3A28-41A1-B531-F6503899CA2D}" type="parTrans" cxnId="{F2B552CE-B13F-4DD3-8C5E-FE9216EFDF3E}">
      <dgm:prSet/>
      <dgm:spPr/>
    </dgm:pt>
    <dgm:pt modelId="{0751A6C3-771B-476D-A272-89B872EEC158}" type="sibTrans" cxnId="{F2B552CE-B13F-4DD3-8C5E-FE9216EFDF3E}">
      <dgm:prSet/>
      <dgm:spPr/>
      <dgm:t>
        <a:bodyPr/>
        <a:lstStyle/>
        <a:p>
          <a:endParaRPr lang="en-GB"/>
        </a:p>
      </dgm:t>
    </dgm:pt>
    <dgm:pt modelId="{A1C44DD5-513C-413C-AA5F-9C420F560F64}">
      <dgm:prSet phldrT="[Text]" phldr="0"/>
      <dgm:spPr/>
      <dgm:t>
        <a:bodyPr/>
        <a:lstStyle/>
        <a:p>
          <a:pPr rtl="0"/>
          <a:r>
            <a:rPr lang="en-GB" dirty="0">
              <a:latin typeface="Felix Titling"/>
            </a:rPr>
            <a:t>Real Application</a:t>
          </a:r>
        </a:p>
      </dgm:t>
    </dgm:pt>
    <dgm:pt modelId="{EE5DBC29-5D59-4A04-9BDB-D3CCC9CE77CA}" type="parTrans" cxnId="{BC7DEBED-B7A4-4F7F-91CE-5CC06057D7F2}">
      <dgm:prSet/>
      <dgm:spPr/>
    </dgm:pt>
    <dgm:pt modelId="{64966FD6-1A26-43D8-B368-87083EF21DC5}" type="sibTrans" cxnId="{BC7DEBED-B7A4-4F7F-91CE-5CC06057D7F2}">
      <dgm:prSet/>
      <dgm:spPr/>
      <dgm:t>
        <a:bodyPr/>
        <a:lstStyle/>
        <a:p>
          <a:endParaRPr lang="en-GB"/>
        </a:p>
      </dgm:t>
    </dgm:pt>
    <dgm:pt modelId="{9FFA5747-CC30-4727-9EE7-5DC575FE7BA2}" type="pres">
      <dgm:prSet presAssocID="{947ADC7D-B552-46BD-9286-70DB260A4207}" presName="linearFlow" presStyleCnt="0">
        <dgm:presLayoutVars>
          <dgm:resizeHandles val="exact"/>
        </dgm:presLayoutVars>
      </dgm:prSet>
      <dgm:spPr/>
    </dgm:pt>
    <dgm:pt modelId="{1785F93F-B3E5-450A-89F6-1F2C033ABD19}" type="pres">
      <dgm:prSet presAssocID="{C313E4CE-37DD-4399-87AE-5F1C7EB177EB}" presName="node" presStyleLbl="node1" presStyleIdx="0" presStyleCnt="7">
        <dgm:presLayoutVars>
          <dgm:bulletEnabled val="1"/>
        </dgm:presLayoutVars>
      </dgm:prSet>
      <dgm:spPr/>
    </dgm:pt>
    <dgm:pt modelId="{6AEAA2B5-6E44-4470-82AC-A5A67C0D64E4}" type="pres">
      <dgm:prSet presAssocID="{244DEF91-8BD0-4C3B-9770-8E489E18BBDA}" presName="sibTrans" presStyleLbl="sibTrans2D1" presStyleIdx="0" presStyleCnt="6"/>
      <dgm:spPr/>
    </dgm:pt>
    <dgm:pt modelId="{4BBCC65C-2018-44C1-99B6-C5B05A911CA4}" type="pres">
      <dgm:prSet presAssocID="{244DEF91-8BD0-4C3B-9770-8E489E18BBDA}" presName="connectorText" presStyleLbl="sibTrans2D1" presStyleIdx="0" presStyleCnt="6"/>
      <dgm:spPr/>
    </dgm:pt>
    <dgm:pt modelId="{2B302C99-FC0A-4378-B3BE-BBBC3D2ABC7E}" type="pres">
      <dgm:prSet presAssocID="{9D60CA0C-5403-46FA-99BC-33FBA4B52995}" presName="node" presStyleLbl="node1" presStyleIdx="1" presStyleCnt="7">
        <dgm:presLayoutVars>
          <dgm:bulletEnabled val="1"/>
        </dgm:presLayoutVars>
      </dgm:prSet>
      <dgm:spPr/>
    </dgm:pt>
    <dgm:pt modelId="{D199F382-976A-491B-BA46-BE73BA808103}" type="pres">
      <dgm:prSet presAssocID="{9F1CD858-0090-4ACD-8508-C7935455A8DC}" presName="sibTrans" presStyleLbl="sibTrans2D1" presStyleIdx="1" presStyleCnt="6"/>
      <dgm:spPr/>
    </dgm:pt>
    <dgm:pt modelId="{18B15081-8A6A-454E-B210-72528BA4BEE6}" type="pres">
      <dgm:prSet presAssocID="{9F1CD858-0090-4ACD-8508-C7935455A8DC}" presName="connectorText" presStyleLbl="sibTrans2D1" presStyleIdx="1" presStyleCnt="6"/>
      <dgm:spPr/>
    </dgm:pt>
    <dgm:pt modelId="{866A979A-E162-446C-B34D-7A00A6B1C49B}" type="pres">
      <dgm:prSet presAssocID="{448A63DE-BBD6-4A31-9C28-88FB33EFFA99}" presName="node" presStyleLbl="node1" presStyleIdx="2" presStyleCnt="7">
        <dgm:presLayoutVars>
          <dgm:bulletEnabled val="1"/>
        </dgm:presLayoutVars>
      </dgm:prSet>
      <dgm:spPr/>
    </dgm:pt>
    <dgm:pt modelId="{7C7DF239-99EE-48AE-B43F-DC58018D7C4A}" type="pres">
      <dgm:prSet presAssocID="{36954383-01FA-4300-BC6F-82EFFEB8483F}" presName="sibTrans" presStyleLbl="sibTrans2D1" presStyleIdx="2" presStyleCnt="6"/>
      <dgm:spPr/>
    </dgm:pt>
    <dgm:pt modelId="{C624F395-25E7-45B8-B080-5F458E718B52}" type="pres">
      <dgm:prSet presAssocID="{36954383-01FA-4300-BC6F-82EFFEB8483F}" presName="connectorText" presStyleLbl="sibTrans2D1" presStyleIdx="2" presStyleCnt="6"/>
      <dgm:spPr/>
    </dgm:pt>
    <dgm:pt modelId="{8D2B6F7D-3AA3-4891-9EC2-4ED68DBEADAB}" type="pres">
      <dgm:prSet presAssocID="{C334EDA0-4F26-431E-B90A-5F485CD036AF}" presName="node" presStyleLbl="node1" presStyleIdx="3" presStyleCnt="7">
        <dgm:presLayoutVars>
          <dgm:bulletEnabled val="1"/>
        </dgm:presLayoutVars>
      </dgm:prSet>
      <dgm:spPr/>
    </dgm:pt>
    <dgm:pt modelId="{3D8C5955-E5AF-4918-8E96-83053A017730}" type="pres">
      <dgm:prSet presAssocID="{7E407F9D-728C-46EB-8939-44CB3D3F467E}" presName="sibTrans" presStyleLbl="sibTrans2D1" presStyleIdx="3" presStyleCnt="6"/>
      <dgm:spPr/>
    </dgm:pt>
    <dgm:pt modelId="{EC3AA68D-D8A4-49D2-9FC7-64E8C86F2A0B}" type="pres">
      <dgm:prSet presAssocID="{7E407F9D-728C-46EB-8939-44CB3D3F467E}" presName="connectorText" presStyleLbl="sibTrans2D1" presStyleIdx="3" presStyleCnt="6"/>
      <dgm:spPr/>
    </dgm:pt>
    <dgm:pt modelId="{D5956940-5CFE-429E-8CCA-3CFC87734CF9}" type="pres">
      <dgm:prSet presAssocID="{33CAE8A8-2089-43F1-AEC3-A2990198F403}" presName="node" presStyleLbl="node1" presStyleIdx="4" presStyleCnt="7">
        <dgm:presLayoutVars>
          <dgm:bulletEnabled val="1"/>
        </dgm:presLayoutVars>
      </dgm:prSet>
      <dgm:spPr/>
    </dgm:pt>
    <dgm:pt modelId="{20F37852-D02F-425A-81A5-87B10C461E41}" type="pres">
      <dgm:prSet presAssocID="{24C54D69-EF61-45CF-993D-DA79C2EA1141}" presName="sibTrans" presStyleLbl="sibTrans2D1" presStyleIdx="4" presStyleCnt="6"/>
      <dgm:spPr/>
    </dgm:pt>
    <dgm:pt modelId="{FCF0BDC1-24FF-4E55-9C10-DA33EE0D559B}" type="pres">
      <dgm:prSet presAssocID="{24C54D69-EF61-45CF-993D-DA79C2EA1141}" presName="connectorText" presStyleLbl="sibTrans2D1" presStyleIdx="4" presStyleCnt="6"/>
      <dgm:spPr/>
    </dgm:pt>
    <dgm:pt modelId="{E64E6F28-7017-458F-8BAC-D162379AE948}" type="pres">
      <dgm:prSet presAssocID="{B827EF6C-8F03-4314-80B2-C0B7F24D0F13}" presName="node" presStyleLbl="node1" presStyleIdx="5" presStyleCnt="7">
        <dgm:presLayoutVars>
          <dgm:bulletEnabled val="1"/>
        </dgm:presLayoutVars>
      </dgm:prSet>
      <dgm:spPr/>
    </dgm:pt>
    <dgm:pt modelId="{475617E4-61FB-4BCA-9C1C-E0DD0675CAD7}" type="pres">
      <dgm:prSet presAssocID="{0751A6C3-771B-476D-A272-89B872EEC158}" presName="sibTrans" presStyleLbl="sibTrans2D1" presStyleIdx="5" presStyleCnt="6"/>
      <dgm:spPr/>
    </dgm:pt>
    <dgm:pt modelId="{A063C2DB-E0F5-44AB-BAAD-7A34A4750BF0}" type="pres">
      <dgm:prSet presAssocID="{0751A6C3-771B-476D-A272-89B872EEC158}" presName="connectorText" presStyleLbl="sibTrans2D1" presStyleIdx="5" presStyleCnt="6"/>
      <dgm:spPr/>
    </dgm:pt>
    <dgm:pt modelId="{767D7E0C-36A2-4618-822B-B60B912DE613}" type="pres">
      <dgm:prSet presAssocID="{A1C44DD5-513C-413C-AA5F-9C420F560F64}" presName="node" presStyleLbl="node1" presStyleIdx="6" presStyleCnt="7">
        <dgm:presLayoutVars>
          <dgm:bulletEnabled val="1"/>
        </dgm:presLayoutVars>
      </dgm:prSet>
      <dgm:spPr/>
    </dgm:pt>
  </dgm:ptLst>
  <dgm:cxnLst>
    <dgm:cxn modelId="{D1FF8F03-CCE7-47D5-9C95-46A2EE09D899}" type="presOf" srcId="{448A63DE-BBD6-4A31-9C28-88FB33EFFA99}" destId="{866A979A-E162-446C-B34D-7A00A6B1C49B}" srcOrd="0" destOrd="0" presId="urn:microsoft.com/office/officeart/2005/8/layout/process2"/>
    <dgm:cxn modelId="{ABC6E913-4C45-404B-805A-7D23CE6413C4}" srcId="{947ADC7D-B552-46BD-9286-70DB260A4207}" destId="{C334EDA0-4F26-431E-B90A-5F485CD036AF}" srcOrd="3" destOrd="0" parTransId="{EED79F8B-7702-45AC-84E5-948D318C1788}" sibTransId="{7E407F9D-728C-46EB-8939-44CB3D3F467E}"/>
    <dgm:cxn modelId="{BDA82C14-7F08-4674-AC71-458C3BE3646B}" type="presOf" srcId="{0751A6C3-771B-476D-A272-89B872EEC158}" destId="{A063C2DB-E0F5-44AB-BAAD-7A34A4750BF0}" srcOrd="1" destOrd="0" presId="urn:microsoft.com/office/officeart/2005/8/layout/process2"/>
    <dgm:cxn modelId="{8DAD0F15-6141-4B9C-B674-608258D4B9EB}" type="presOf" srcId="{24C54D69-EF61-45CF-993D-DA79C2EA1141}" destId="{20F37852-D02F-425A-81A5-87B10C461E41}" srcOrd="0" destOrd="0" presId="urn:microsoft.com/office/officeart/2005/8/layout/process2"/>
    <dgm:cxn modelId="{5D518D1B-66DE-44A7-84B5-975426B12268}" type="presOf" srcId="{244DEF91-8BD0-4C3B-9770-8E489E18BBDA}" destId="{4BBCC65C-2018-44C1-99B6-C5B05A911CA4}" srcOrd="1" destOrd="0" presId="urn:microsoft.com/office/officeart/2005/8/layout/process2"/>
    <dgm:cxn modelId="{9AF9A329-9957-4F8B-8150-9C2B3CDB3747}" type="presOf" srcId="{244DEF91-8BD0-4C3B-9770-8E489E18BBDA}" destId="{6AEAA2B5-6E44-4470-82AC-A5A67C0D64E4}" srcOrd="0" destOrd="0" presId="urn:microsoft.com/office/officeart/2005/8/layout/process2"/>
    <dgm:cxn modelId="{16CC995B-7E17-434D-9787-BB704457D982}" type="presOf" srcId="{9D60CA0C-5403-46FA-99BC-33FBA4B52995}" destId="{2B302C99-FC0A-4378-B3BE-BBBC3D2ABC7E}" srcOrd="0" destOrd="0" presId="urn:microsoft.com/office/officeart/2005/8/layout/process2"/>
    <dgm:cxn modelId="{D3FD2746-450F-4A32-B989-D0F5B0A2E36C}" srcId="{947ADC7D-B552-46BD-9286-70DB260A4207}" destId="{448A63DE-BBD6-4A31-9C28-88FB33EFFA99}" srcOrd="2" destOrd="0" parTransId="{C665FAB9-AAE8-45DE-BC23-6888CE5E6805}" sibTransId="{36954383-01FA-4300-BC6F-82EFFEB8483F}"/>
    <dgm:cxn modelId="{A2C0E751-591C-4DD4-9B2F-8895854F7340}" type="presOf" srcId="{947ADC7D-B552-46BD-9286-70DB260A4207}" destId="{9FFA5747-CC30-4727-9EE7-5DC575FE7BA2}" srcOrd="0" destOrd="0" presId="urn:microsoft.com/office/officeart/2005/8/layout/process2"/>
    <dgm:cxn modelId="{1A88B452-2C58-49E7-B033-E12FBD3F306F}" type="presOf" srcId="{33CAE8A8-2089-43F1-AEC3-A2990198F403}" destId="{D5956940-5CFE-429E-8CCA-3CFC87734CF9}" srcOrd="0" destOrd="0" presId="urn:microsoft.com/office/officeart/2005/8/layout/process2"/>
    <dgm:cxn modelId="{BC83D373-58E0-46DB-BE68-0857081B7293}" type="presOf" srcId="{C334EDA0-4F26-431E-B90A-5F485CD036AF}" destId="{8D2B6F7D-3AA3-4891-9EC2-4ED68DBEADAB}" srcOrd="0" destOrd="0" presId="urn:microsoft.com/office/officeart/2005/8/layout/process2"/>
    <dgm:cxn modelId="{7F5B3554-0501-4BE8-B2F8-5D78F7D52C77}" type="presOf" srcId="{9F1CD858-0090-4ACD-8508-C7935455A8DC}" destId="{D199F382-976A-491B-BA46-BE73BA808103}" srcOrd="0" destOrd="0" presId="urn:microsoft.com/office/officeart/2005/8/layout/process2"/>
    <dgm:cxn modelId="{54496756-01A6-44AE-991D-78954AD810AA}" srcId="{947ADC7D-B552-46BD-9286-70DB260A4207}" destId="{33CAE8A8-2089-43F1-AEC3-A2990198F403}" srcOrd="4" destOrd="0" parTransId="{C2A3218E-FA92-4FC6-8A01-9464E2E6B185}" sibTransId="{24C54D69-EF61-45CF-993D-DA79C2EA1141}"/>
    <dgm:cxn modelId="{8CBEDA56-F4BC-488D-ABC4-972B3C543AC0}" type="presOf" srcId="{9F1CD858-0090-4ACD-8508-C7935455A8DC}" destId="{18B15081-8A6A-454E-B210-72528BA4BEE6}" srcOrd="1" destOrd="0" presId="urn:microsoft.com/office/officeart/2005/8/layout/process2"/>
    <dgm:cxn modelId="{3102357B-2A9F-4DDF-9E87-D0CBA8CA0820}" type="presOf" srcId="{B827EF6C-8F03-4314-80B2-C0B7F24D0F13}" destId="{E64E6F28-7017-458F-8BAC-D162379AE948}" srcOrd="0" destOrd="0" presId="urn:microsoft.com/office/officeart/2005/8/layout/process2"/>
    <dgm:cxn modelId="{F374277E-4572-4532-886B-BF19DE5B36A8}" type="presOf" srcId="{7E407F9D-728C-46EB-8939-44CB3D3F467E}" destId="{EC3AA68D-D8A4-49D2-9FC7-64E8C86F2A0B}" srcOrd="1" destOrd="0" presId="urn:microsoft.com/office/officeart/2005/8/layout/process2"/>
    <dgm:cxn modelId="{ECC49588-7B31-409F-8547-E57300BF40CF}" type="presOf" srcId="{A1C44DD5-513C-413C-AA5F-9C420F560F64}" destId="{767D7E0C-36A2-4618-822B-B60B912DE613}" srcOrd="0" destOrd="0" presId="urn:microsoft.com/office/officeart/2005/8/layout/process2"/>
    <dgm:cxn modelId="{344E5A94-6409-43D9-8E6B-75A1356BBBDD}" type="presOf" srcId="{0751A6C3-771B-476D-A272-89B872EEC158}" destId="{475617E4-61FB-4BCA-9C1C-E0DD0675CAD7}" srcOrd="0" destOrd="0" presId="urn:microsoft.com/office/officeart/2005/8/layout/process2"/>
    <dgm:cxn modelId="{EC3AA895-24E3-4101-953A-2057E8C75EF5}" type="presOf" srcId="{7E407F9D-728C-46EB-8939-44CB3D3F467E}" destId="{3D8C5955-E5AF-4918-8E96-83053A017730}" srcOrd="0" destOrd="0" presId="urn:microsoft.com/office/officeart/2005/8/layout/process2"/>
    <dgm:cxn modelId="{7EA35CA6-6C22-47BD-A951-CE1A9E979419}" srcId="{947ADC7D-B552-46BD-9286-70DB260A4207}" destId="{9D60CA0C-5403-46FA-99BC-33FBA4B52995}" srcOrd="1" destOrd="0" parTransId="{5F356B41-79BA-4095-A212-6FFCA151F656}" sibTransId="{9F1CD858-0090-4ACD-8508-C7935455A8DC}"/>
    <dgm:cxn modelId="{A4B74BC0-9662-4473-AED1-D31A15840105}" type="presOf" srcId="{24C54D69-EF61-45CF-993D-DA79C2EA1141}" destId="{FCF0BDC1-24FF-4E55-9C10-DA33EE0D559B}" srcOrd="1" destOrd="0" presId="urn:microsoft.com/office/officeart/2005/8/layout/process2"/>
    <dgm:cxn modelId="{EF6A8EC0-82EA-4B3E-874E-6BF1CB9AE321}" type="presOf" srcId="{36954383-01FA-4300-BC6F-82EFFEB8483F}" destId="{C624F395-25E7-45B8-B080-5F458E718B52}" srcOrd="1" destOrd="0" presId="urn:microsoft.com/office/officeart/2005/8/layout/process2"/>
    <dgm:cxn modelId="{F2B552CE-B13F-4DD3-8C5E-FE9216EFDF3E}" srcId="{947ADC7D-B552-46BD-9286-70DB260A4207}" destId="{B827EF6C-8F03-4314-80B2-C0B7F24D0F13}" srcOrd="5" destOrd="0" parTransId="{619D158C-3A28-41A1-B531-F6503899CA2D}" sibTransId="{0751A6C3-771B-476D-A272-89B872EEC158}"/>
    <dgm:cxn modelId="{4807BDE1-C6C5-4212-AFF3-926C91666A3D}" srcId="{947ADC7D-B552-46BD-9286-70DB260A4207}" destId="{C313E4CE-37DD-4399-87AE-5F1C7EB177EB}" srcOrd="0" destOrd="0" parTransId="{E76ACCAC-57A7-4AAC-AD86-65694A596A95}" sibTransId="{244DEF91-8BD0-4C3B-9770-8E489E18BBDA}"/>
    <dgm:cxn modelId="{C80090EC-ED23-427E-8BE4-84DA3AAC826E}" type="presOf" srcId="{36954383-01FA-4300-BC6F-82EFFEB8483F}" destId="{7C7DF239-99EE-48AE-B43F-DC58018D7C4A}" srcOrd="0" destOrd="0" presId="urn:microsoft.com/office/officeart/2005/8/layout/process2"/>
    <dgm:cxn modelId="{BC7DEBED-B7A4-4F7F-91CE-5CC06057D7F2}" srcId="{947ADC7D-B552-46BD-9286-70DB260A4207}" destId="{A1C44DD5-513C-413C-AA5F-9C420F560F64}" srcOrd="6" destOrd="0" parTransId="{EE5DBC29-5D59-4A04-9BDB-D3CCC9CE77CA}" sibTransId="{64966FD6-1A26-43D8-B368-87083EF21DC5}"/>
    <dgm:cxn modelId="{9A1301EF-CB65-4455-BFF0-7B291D1E72B1}" type="presOf" srcId="{C313E4CE-37DD-4399-87AE-5F1C7EB177EB}" destId="{1785F93F-B3E5-450A-89F6-1F2C033ABD19}" srcOrd="0" destOrd="0" presId="urn:microsoft.com/office/officeart/2005/8/layout/process2"/>
    <dgm:cxn modelId="{1C1E0C62-4E0C-4582-A52C-17FACF240D3F}" type="presParOf" srcId="{9FFA5747-CC30-4727-9EE7-5DC575FE7BA2}" destId="{1785F93F-B3E5-450A-89F6-1F2C033ABD19}" srcOrd="0" destOrd="0" presId="urn:microsoft.com/office/officeart/2005/8/layout/process2"/>
    <dgm:cxn modelId="{7460FBD4-8734-4434-84BD-8472D40CDF8E}" type="presParOf" srcId="{9FFA5747-CC30-4727-9EE7-5DC575FE7BA2}" destId="{6AEAA2B5-6E44-4470-82AC-A5A67C0D64E4}" srcOrd="1" destOrd="0" presId="urn:microsoft.com/office/officeart/2005/8/layout/process2"/>
    <dgm:cxn modelId="{E2EB0183-0336-4F68-A08B-2E366AA0E27F}" type="presParOf" srcId="{6AEAA2B5-6E44-4470-82AC-A5A67C0D64E4}" destId="{4BBCC65C-2018-44C1-99B6-C5B05A911CA4}" srcOrd="0" destOrd="0" presId="urn:microsoft.com/office/officeart/2005/8/layout/process2"/>
    <dgm:cxn modelId="{8EEE80E9-E2AA-4FB8-AA31-7C68AC679B62}" type="presParOf" srcId="{9FFA5747-CC30-4727-9EE7-5DC575FE7BA2}" destId="{2B302C99-FC0A-4378-B3BE-BBBC3D2ABC7E}" srcOrd="2" destOrd="0" presId="urn:microsoft.com/office/officeart/2005/8/layout/process2"/>
    <dgm:cxn modelId="{D9F8554C-556C-4007-913F-BD27A3BD6427}" type="presParOf" srcId="{9FFA5747-CC30-4727-9EE7-5DC575FE7BA2}" destId="{D199F382-976A-491B-BA46-BE73BA808103}" srcOrd="3" destOrd="0" presId="urn:microsoft.com/office/officeart/2005/8/layout/process2"/>
    <dgm:cxn modelId="{95CC436C-408E-48F4-B21C-147AA6A12456}" type="presParOf" srcId="{D199F382-976A-491B-BA46-BE73BA808103}" destId="{18B15081-8A6A-454E-B210-72528BA4BEE6}" srcOrd="0" destOrd="0" presId="urn:microsoft.com/office/officeart/2005/8/layout/process2"/>
    <dgm:cxn modelId="{E58F7809-A216-43D0-9AC1-39A07F566861}" type="presParOf" srcId="{9FFA5747-CC30-4727-9EE7-5DC575FE7BA2}" destId="{866A979A-E162-446C-B34D-7A00A6B1C49B}" srcOrd="4" destOrd="0" presId="urn:microsoft.com/office/officeart/2005/8/layout/process2"/>
    <dgm:cxn modelId="{AFC249BF-D625-480A-AC62-CB6C37908332}" type="presParOf" srcId="{9FFA5747-CC30-4727-9EE7-5DC575FE7BA2}" destId="{7C7DF239-99EE-48AE-B43F-DC58018D7C4A}" srcOrd="5" destOrd="0" presId="urn:microsoft.com/office/officeart/2005/8/layout/process2"/>
    <dgm:cxn modelId="{2442993C-51B2-45C4-A029-9691C9D4EB71}" type="presParOf" srcId="{7C7DF239-99EE-48AE-B43F-DC58018D7C4A}" destId="{C624F395-25E7-45B8-B080-5F458E718B52}" srcOrd="0" destOrd="0" presId="urn:microsoft.com/office/officeart/2005/8/layout/process2"/>
    <dgm:cxn modelId="{7ADAB14C-B31C-4818-9961-9C98C3003A3B}" type="presParOf" srcId="{9FFA5747-CC30-4727-9EE7-5DC575FE7BA2}" destId="{8D2B6F7D-3AA3-4891-9EC2-4ED68DBEADAB}" srcOrd="6" destOrd="0" presId="urn:microsoft.com/office/officeart/2005/8/layout/process2"/>
    <dgm:cxn modelId="{656E250A-5C90-4FB3-925E-493B4396DB4B}" type="presParOf" srcId="{9FFA5747-CC30-4727-9EE7-5DC575FE7BA2}" destId="{3D8C5955-E5AF-4918-8E96-83053A017730}" srcOrd="7" destOrd="0" presId="urn:microsoft.com/office/officeart/2005/8/layout/process2"/>
    <dgm:cxn modelId="{E756A609-692C-4C88-828D-680FD4ABE85B}" type="presParOf" srcId="{3D8C5955-E5AF-4918-8E96-83053A017730}" destId="{EC3AA68D-D8A4-49D2-9FC7-64E8C86F2A0B}" srcOrd="0" destOrd="0" presId="urn:microsoft.com/office/officeart/2005/8/layout/process2"/>
    <dgm:cxn modelId="{3519A140-51E8-45B4-B96D-C39071BA1DA5}" type="presParOf" srcId="{9FFA5747-CC30-4727-9EE7-5DC575FE7BA2}" destId="{D5956940-5CFE-429E-8CCA-3CFC87734CF9}" srcOrd="8" destOrd="0" presId="urn:microsoft.com/office/officeart/2005/8/layout/process2"/>
    <dgm:cxn modelId="{4401F63F-49E8-4B2A-B903-AEE8D2073C3C}" type="presParOf" srcId="{9FFA5747-CC30-4727-9EE7-5DC575FE7BA2}" destId="{20F37852-D02F-425A-81A5-87B10C461E41}" srcOrd="9" destOrd="0" presId="urn:microsoft.com/office/officeart/2005/8/layout/process2"/>
    <dgm:cxn modelId="{4971EC3F-4BA1-4E05-A2EA-2857698AFF1B}" type="presParOf" srcId="{20F37852-D02F-425A-81A5-87B10C461E41}" destId="{FCF0BDC1-24FF-4E55-9C10-DA33EE0D559B}" srcOrd="0" destOrd="0" presId="urn:microsoft.com/office/officeart/2005/8/layout/process2"/>
    <dgm:cxn modelId="{6ED81BCE-633C-41DA-A7CA-4B274AF53574}" type="presParOf" srcId="{9FFA5747-CC30-4727-9EE7-5DC575FE7BA2}" destId="{E64E6F28-7017-458F-8BAC-D162379AE948}" srcOrd="10" destOrd="0" presId="urn:microsoft.com/office/officeart/2005/8/layout/process2"/>
    <dgm:cxn modelId="{8D9F2936-2132-415A-8E51-680A3217A587}" type="presParOf" srcId="{9FFA5747-CC30-4727-9EE7-5DC575FE7BA2}" destId="{475617E4-61FB-4BCA-9C1C-E0DD0675CAD7}" srcOrd="11" destOrd="0" presId="urn:microsoft.com/office/officeart/2005/8/layout/process2"/>
    <dgm:cxn modelId="{3D063A0E-C5CD-482E-B5EA-E10D43D65A30}" type="presParOf" srcId="{475617E4-61FB-4BCA-9C1C-E0DD0675CAD7}" destId="{A063C2DB-E0F5-44AB-BAAD-7A34A4750BF0}" srcOrd="0" destOrd="0" presId="urn:microsoft.com/office/officeart/2005/8/layout/process2"/>
    <dgm:cxn modelId="{B578A579-E21B-45A9-A6C6-721058278E86}" type="presParOf" srcId="{9FFA5747-CC30-4727-9EE7-5DC575FE7BA2}" destId="{767D7E0C-36A2-4618-822B-B60B912DE613}" srcOrd="12"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85F93F-B3E5-450A-89F6-1F2C033ABD19}">
      <dsp:nvSpPr>
        <dsp:cNvPr id="0" name=""/>
        <dsp:cNvSpPr/>
      </dsp:nvSpPr>
      <dsp:spPr>
        <a:xfrm>
          <a:off x="2739546" y="708"/>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Felix Titling"/>
            </a:rPr>
            <a:t>Data</a:t>
          </a:r>
          <a:endParaRPr lang="en-GB" sz="1400" kern="1200" dirty="0"/>
        </a:p>
      </dsp:txBody>
      <dsp:txXfrm>
        <a:off x="2756539" y="17701"/>
        <a:ext cx="2167077" cy="546195"/>
      </dsp:txXfrm>
    </dsp:sp>
    <dsp:sp modelId="{6AEAA2B5-6E44-4470-82AC-A5A67C0D64E4}">
      <dsp:nvSpPr>
        <dsp:cNvPr id="0" name=""/>
        <dsp:cNvSpPr/>
      </dsp:nvSpPr>
      <dsp:spPr>
        <a:xfrm rot="5400000">
          <a:off x="3731294" y="595394"/>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617150"/>
        <a:ext cx="156649" cy="152298"/>
      </dsp:txXfrm>
    </dsp:sp>
    <dsp:sp modelId="{2B302C99-FC0A-4378-B3BE-BBBC3D2ABC7E}">
      <dsp:nvSpPr>
        <dsp:cNvPr id="0" name=""/>
        <dsp:cNvSpPr/>
      </dsp:nvSpPr>
      <dsp:spPr>
        <a:xfrm>
          <a:off x="2739546" y="870980"/>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Felix Titling"/>
            </a:rPr>
            <a:t>Pretraining</a:t>
          </a:r>
          <a:endParaRPr lang="en-GB" sz="1400" kern="1200" dirty="0"/>
        </a:p>
      </dsp:txBody>
      <dsp:txXfrm>
        <a:off x="2756539" y="887973"/>
        <a:ext cx="2167077" cy="546195"/>
      </dsp:txXfrm>
    </dsp:sp>
    <dsp:sp modelId="{D199F382-976A-491B-BA46-BE73BA808103}">
      <dsp:nvSpPr>
        <dsp:cNvPr id="0" name=""/>
        <dsp:cNvSpPr/>
      </dsp:nvSpPr>
      <dsp:spPr>
        <a:xfrm rot="5400000">
          <a:off x="3731294" y="1465666"/>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1487422"/>
        <a:ext cx="156649" cy="152298"/>
      </dsp:txXfrm>
    </dsp:sp>
    <dsp:sp modelId="{866A979A-E162-446C-B34D-7A00A6B1C49B}">
      <dsp:nvSpPr>
        <dsp:cNvPr id="0" name=""/>
        <dsp:cNvSpPr/>
      </dsp:nvSpPr>
      <dsp:spPr>
        <a:xfrm>
          <a:off x="2739546" y="1741252"/>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kern="1200" dirty="0">
              <a:latin typeface="Felix Titling"/>
            </a:rPr>
            <a:t>Post training</a:t>
          </a:r>
          <a:endParaRPr lang="en-GB" sz="1400" kern="1200" dirty="0"/>
        </a:p>
      </dsp:txBody>
      <dsp:txXfrm>
        <a:off x="2756539" y="1758245"/>
        <a:ext cx="2167077" cy="546195"/>
      </dsp:txXfrm>
    </dsp:sp>
    <dsp:sp modelId="{7C7DF239-99EE-48AE-B43F-DC58018D7C4A}">
      <dsp:nvSpPr>
        <dsp:cNvPr id="0" name=""/>
        <dsp:cNvSpPr/>
      </dsp:nvSpPr>
      <dsp:spPr>
        <a:xfrm rot="5400000">
          <a:off x="3731294" y="2335938"/>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2357694"/>
        <a:ext cx="156649" cy="152298"/>
      </dsp:txXfrm>
    </dsp:sp>
    <dsp:sp modelId="{8D2B6F7D-3AA3-4891-9EC2-4ED68DBEADAB}">
      <dsp:nvSpPr>
        <dsp:cNvPr id="0" name=""/>
        <dsp:cNvSpPr/>
      </dsp:nvSpPr>
      <dsp:spPr>
        <a:xfrm>
          <a:off x="2739546" y="2611524"/>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Felix Titling"/>
            </a:rPr>
            <a:t>Model</a:t>
          </a:r>
        </a:p>
      </dsp:txBody>
      <dsp:txXfrm>
        <a:off x="2756539" y="2628517"/>
        <a:ext cx="2167077" cy="546195"/>
      </dsp:txXfrm>
    </dsp:sp>
    <dsp:sp modelId="{3D8C5955-E5AF-4918-8E96-83053A017730}">
      <dsp:nvSpPr>
        <dsp:cNvPr id="0" name=""/>
        <dsp:cNvSpPr/>
      </dsp:nvSpPr>
      <dsp:spPr>
        <a:xfrm rot="5400000">
          <a:off x="3731294" y="3206210"/>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3227966"/>
        <a:ext cx="156649" cy="152298"/>
      </dsp:txXfrm>
    </dsp:sp>
    <dsp:sp modelId="{D5956940-5CFE-429E-8CCA-3CFC87734CF9}">
      <dsp:nvSpPr>
        <dsp:cNvPr id="0" name=""/>
        <dsp:cNvSpPr/>
      </dsp:nvSpPr>
      <dsp:spPr>
        <a:xfrm>
          <a:off x="2739546" y="3481796"/>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Felix Titling"/>
            </a:rPr>
            <a:t>Prompt/RAG/Finetune</a:t>
          </a:r>
        </a:p>
      </dsp:txBody>
      <dsp:txXfrm>
        <a:off x="2756539" y="3498789"/>
        <a:ext cx="2167077" cy="546195"/>
      </dsp:txXfrm>
    </dsp:sp>
    <dsp:sp modelId="{20F37852-D02F-425A-81A5-87B10C461E41}">
      <dsp:nvSpPr>
        <dsp:cNvPr id="0" name=""/>
        <dsp:cNvSpPr/>
      </dsp:nvSpPr>
      <dsp:spPr>
        <a:xfrm rot="5400000">
          <a:off x="3731294" y="4076482"/>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4098238"/>
        <a:ext cx="156649" cy="152298"/>
      </dsp:txXfrm>
    </dsp:sp>
    <dsp:sp modelId="{E64E6F28-7017-458F-8BAC-D162379AE948}">
      <dsp:nvSpPr>
        <dsp:cNvPr id="0" name=""/>
        <dsp:cNvSpPr/>
      </dsp:nvSpPr>
      <dsp:spPr>
        <a:xfrm>
          <a:off x="2739546" y="4352069"/>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latin typeface="Felix Titling"/>
            </a:rPr>
            <a:t>Tools/Memory/Agent</a:t>
          </a:r>
        </a:p>
      </dsp:txBody>
      <dsp:txXfrm>
        <a:off x="2756539" y="4369062"/>
        <a:ext cx="2167077" cy="546195"/>
      </dsp:txXfrm>
    </dsp:sp>
    <dsp:sp modelId="{475617E4-61FB-4BCA-9C1C-E0DD0675CAD7}">
      <dsp:nvSpPr>
        <dsp:cNvPr id="0" name=""/>
        <dsp:cNvSpPr/>
      </dsp:nvSpPr>
      <dsp:spPr>
        <a:xfrm rot="5400000">
          <a:off x="3731294" y="4946755"/>
          <a:ext cx="217568" cy="261081"/>
        </a:xfrm>
        <a:prstGeom prst="rightArrow">
          <a:avLst>
            <a:gd name="adj1" fmla="val 60000"/>
            <a:gd name="adj2" fmla="val 50000"/>
          </a:avLst>
        </a:prstGeom>
        <a:solidFill>
          <a:schemeClr val="accent4">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3761754" y="4968511"/>
        <a:ext cx="156649" cy="152298"/>
      </dsp:txXfrm>
    </dsp:sp>
    <dsp:sp modelId="{767D7E0C-36A2-4618-822B-B60B912DE613}">
      <dsp:nvSpPr>
        <dsp:cNvPr id="0" name=""/>
        <dsp:cNvSpPr/>
      </dsp:nvSpPr>
      <dsp:spPr>
        <a:xfrm>
          <a:off x="2739546" y="5222341"/>
          <a:ext cx="2201063" cy="580181"/>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GB" sz="1400" kern="1200" dirty="0">
              <a:latin typeface="Felix Titling"/>
            </a:rPr>
            <a:t>Real Application</a:t>
          </a:r>
        </a:p>
      </dsp:txBody>
      <dsp:txXfrm>
        <a:off x="2756539" y="5239334"/>
        <a:ext cx="2167077" cy="5461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E6651-9518-4078-8630-E50D47BF5EF6}" type="datetimeFigureOut">
              <a:t>9/14/2026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AF01F0-B6F6-4C73-AA39-4B892037E0E1}" type="slidenum">
              <a:t>‹#›</a:t>
            </a:fld>
            <a:endParaRPr lang="en-GB"/>
          </a:p>
        </p:txBody>
      </p:sp>
    </p:spTree>
    <p:extLst>
      <p:ext uri="{BB962C8B-B14F-4D97-AF65-F5344CB8AC3E}">
        <p14:creationId xmlns:p14="http://schemas.microsoft.com/office/powerpoint/2010/main" val="287127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HOOK:</a:t>
            </a:r>
          </a:p>
          <a:p>
            <a:r>
              <a:t>“Most people think ChatGPT is the AI. But ChatGPT is an application. Underneath it is a much more general idea: a foundation model.”</a:t>
            </a:r>
          </a:p>
          <a:p>
            <a:endParaRPr/>
          </a:p>
          <a:p>
            <a:r>
              <a:t>Say that this video updates older explanations of foundation models with the 2026 picture.</a:t>
            </a:r>
          </a:p>
          <a:p>
            <a:endParaRPr/>
          </a:p>
          <a:p>
            <a:r>
              <a:t>KEY MESSAGE:</a:t>
            </a:r>
          </a:p>
          <a:p>
            <a:r>
              <a:t>A foundation model is a reusable, general-purpose AI base trained at large scale. It can be adapted into many applications.</a:t>
            </a:r>
          </a:p>
          <a:p>
            <a:endParaRPr/>
          </a:p>
          <a:p>
            <a:r>
              <a:t>TRANSITION:</a:t>
            </a:r>
          </a:p>
          <a:p>
            <a:r>
              <a:t>“First, let’s make the definition extremely simple.”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a:t>
            </a:r>
          </a:p>
          <a:p>
            <a:r>
              <a:t>Imagine a student who studies an enormous library before choosing a career. The student first learns broad patterns; later, we teach them how to follow instructions or perform a specialized job.</a:t>
            </a:r>
          </a:p>
          <a:p>
            <a:endParaRPr/>
          </a:p>
          <a:p>
            <a:r>
              <a:t>A foundation model is similar: broad pretraining first, specialization later.</a:t>
            </a:r>
          </a:p>
          <a:p>
            <a:endParaRPr/>
          </a:p>
          <a:p>
            <a:r>
              <a:t>Do not say that every foundation model is necessarily a chatbot or necessarily generative. The important property is that it is a broad base that can support many downstream tasks.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HOUSE ANALOGY:</a:t>
            </a:r>
          </a:p>
          <a:p>
            <a:r>
              <a:t>Foundation = pretrained model.</a:t>
            </a:r>
          </a:p>
          <a:p>
            <a:r>
              <a:t>Rooms = applications.</a:t>
            </a:r>
          </a:p>
          <a:p>
            <a:r>
              <a:t>Furniture = prompts, retrieval, fine-tuning and tools.</a:t>
            </a:r>
          </a:p>
          <a:p>
            <a:endParaRPr/>
          </a:p>
          <a:p>
            <a:r>
              <a:t>Example:</a:t>
            </a:r>
          </a:p>
          <a:p>
            <a:r>
              <a:t>The same underlying model can support a customer-support assistant, coding assistant, document analyzer or research agent.</a:t>
            </a:r>
          </a:p>
          <a:p>
            <a:endParaRPr/>
          </a:p>
          <a:p>
            <a:r>
              <a:t>TRANSITION:</a:t>
            </a:r>
          </a:p>
          <a:p>
            <a:r>
              <a:t>“So how does that foundation actually get built?”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STEP-BY-STEP:</a:t>
            </a:r>
          </a:p>
          <a:p>
            <a:r>
              <a:t>1. PRETRAINING: expose the model to huge amounts of data and optimize it to learn useful patterns.</a:t>
            </a:r>
          </a:p>
          <a:p>
            <a:r>
              <a:t>2. SELF-SUPERVISION: the training target can often be generated from the data itself; this avoids manually labeling every example.</a:t>
            </a:r>
          </a:p>
          <a:p>
            <a:r>
              <a:t>3. POST-TRAINING: teach better instruction following, preferences, reasoning behavior and safety.</a:t>
            </a:r>
          </a:p>
          <a:p>
            <a:r>
              <a:t>4. DEPLOYMENT: the trained model receives an input and produces an output.</a:t>
            </a:r>
          </a:p>
          <a:p>
            <a:endParaRPr/>
          </a:p>
          <a:p>
            <a:r>
              <a:t>Important correction to the older source:</a:t>
            </a:r>
          </a:p>
          <a:p>
            <a:r>
              <a:t>Modern foundation-model explanations should not imply that GANs and VAEs are the main architecture behind today’s frontier language models. Transformers remain central to many language and multimodal systems, while other architectures and hybrids are also used.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 IDEA:</a:t>
            </a:r>
          </a:p>
          <a:p>
            <a:r>
              <a:t>Put “The capital of France is” on screen.</a:t>
            </a:r>
          </a:p>
          <a:p>
            <a:endParaRPr/>
          </a:p>
          <a:p>
            <a:r>
              <a:t>Explain that a language model estimates a distribution over possible next tokens. It then generates a token, adds it to the context, and repeats.</a:t>
            </a:r>
          </a:p>
          <a:p>
            <a:endParaRPr/>
          </a:p>
          <a:p>
            <a:r>
              <a:t>VERY IMPORTANT:</a:t>
            </a:r>
          </a:p>
          <a:p>
            <a:r>
              <a:t>Do not describe the model as simply “choosing the most likely word every time.” Real generation can use sampling and other decoding strategies.</a:t>
            </a:r>
          </a:p>
          <a:p>
            <a:endParaRPr/>
          </a:p>
          <a:p>
            <a:r>
              <a:t>Analogy:</a:t>
            </a:r>
          </a:p>
          <a:p>
            <a:r>
              <a:t>It is like a very advanced autocomplete system—but trained deeply enough that the learned representations support much more than ordinary autocomplete.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“LATEST” SECTION:</a:t>
            </a:r>
          </a:p>
          <a:p>
            <a:r>
              <a:t>The 2025 source lists GPT-4, BERT, DALL-E 3, CLIP, Stable Diffusion, LLaMA and Gato. Those are useful historically, but they should not be presented as the current 2026 frontier list.</a:t>
            </a:r>
          </a:p>
          <a:p>
            <a:endParaRPr/>
          </a:p>
          <a:p>
            <a:r>
              <a:t>In 2026, the important trends are:</a:t>
            </a:r>
          </a:p>
          <a:p>
            <a:r>
              <a:t>• multimodality</a:t>
            </a:r>
          </a:p>
          <a:p>
            <a:r>
              <a:t>• reasoning</a:t>
            </a:r>
          </a:p>
          <a:p>
            <a:r>
              <a:t>• tool use</a:t>
            </a:r>
          </a:p>
          <a:p>
            <a:r>
              <a:t>• agents</a:t>
            </a:r>
          </a:p>
          <a:p>
            <a:r>
              <a:t>• long context</a:t>
            </a:r>
          </a:p>
          <a:p>
            <a:r>
              <a:t>• open-weight models</a:t>
            </a:r>
          </a:p>
          <a:p>
            <a:r>
              <a:t>• efficiency</a:t>
            </a:r>
          </a:p>
          <a:p>
            <a:endParaRPr/>
          </a:p>
          <a:p>
            <a:r>
              <a:t>Say:</a:t>
            </a:r>
          </a:p>
          <a:p>
            <a:r>
              <a:t>“The foundation model is becoming a component inside a larger AI system.”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EXAMPLES:</a:t>
            </a:r>
          </a:p>
          <a:p>
            <a:r>
              <a:t>OpenAI: GPT-5.4 is documented as a flagship model for complex professional work, with up to a 1.05M-token context window.</a:t>
            </a:r>
          </a:p>
          <a:p>
            <a:endParaRPr/>
          </a:p>
          <a:p>
            <a:r>
              <a:t>Google: Google’s 2026 I/O material highlights Gemini Omni and Gemini 3.5, emphasizing multimodality and action.</a:t>
            </a:r>
          </a:p>
          <a:p>
            <a:endParaRPr/>
          </a:p>
          <a:p>
            <a:r>
              <a:t>Meta: Llama 4 Scout and Maverick are natively multimodal. Meta advertises Scout with a 10M context window.</a:t>
            </a:r>
          </a:p>
          <a:p>
            <a:endParaRPr/>
          </a:p>
          <a:p>
            <a:r>
              <a:t>Anthropic: Claude Fable 5.1 was announced September 1, 2026 as a latest model for coding and knowledge work.</a:t>
            </a:r>
          </a:p>
          <a:p>
            <a:endParaRPr/>
          </a:p>
          <a:p>
            <a:r>
              <a:t>NVIDIA: Nemotron 3 is a family of open models for agentic AI; NVIDIA also lists a Nemotron 3.5 Lightning release in August 2026.</a:t>
            </a:r>
          </a:p>
          <a:p>
            <a:endParaRPr/>
          </a:p>
          <a:p>
            <a:r>
              <a:t>NOTE:</a:t>
            </a:r>
          </a:p>
          <a:p>
            <a:r>
              <a:t>Model names and product availability change quickly. Put the “updated September 2026” date on screen and verify model names before recording if you publish much later.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DISTINCTION WILL MAKE YOUR VIDEO UNIQUE:</a:t>
            </a:r>
          </a:p>
          <a:p>
            <a:r>
              <a:t>A model is not the same thing as the application.</a:t>
            </a:r>
          </a:p>
          <a:p>
            <a:endParaRPr/>
          </a:p>
          <a:p>
            <a:r>
              <a:t>Example:</a:t>
            </a:r>
          </a:p>
          <a:p>
            <a:r>
              <a:t>Model = engine.</a:t>
            </a:r>
          </a:p>
          <a:p>
            <a:r>
              <a:t>RAG = attach a knowledge database.</a:t>
            </a:r>
          </a:p>
          <a:p>
            <a:r>
              <a:t>Tools = attach capabilities such as search, calculator, database or APIs.</a:t>
            </a:r>
          </a:p>
          <a:p>
            <a:r>
              <a:t>Agent = allow the model to decide what to do next and repeat the loop.</a:t>
            </a:r>
          </a:p>
          <a:p>
            <a:endParaRPr/>
          </a:p>
          <a:p>
            <a:r>
              <a:t>A useful mental model:</a:t>
            </a:r>
          </a:p>
          <a:p>
            <a:r>
              <a:t>MODEL + CONTEXT + TOOLS + STATE + EVALUATION = MODERN AI SYSTEM.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the “reality check” section.</a:t>
            </a:r>
          </a:p>
          <a:p>
            <a:endParaRPr/>
          </a:p>
          <a:p>
            <a:r>
              <a:t>A foundation model can be powerful and still:</a:t>
            </a:r>
          </a:p>
          <a:p>
            <a:r>
              <a:t>• hallucinate</a:t>
            </a:r>
          </a:p>
          <a:p>
            <a:r>
              <a:t>• reproduce bias</a:t>
            </a:r>
          </a:p>
          <a:p>
            <a:r>
              <a:t>• leak or mishandle sensitive information</a:t>
            </a:r>
          </a:p>
          <a:p>
            <a:r>
              <a:t>• cost too much</a:t>
            </a:r>
          </a:p>
          <a:p>
            <a:r>
              <a:t>• be too slow</a:t>
            </a:r>
          </a:p>
          <a:p>
            <a:r>
              <a:t>• fail unpredictably on edge cases</a:t>
            </a:r>
          </a:p>
          <a:p>
            <a:r>
              <a:t>• misuse tools if the surrounding system is poorly designed</a:t>
            </a:r>
          </a:p>
          <a:p>
            <a:endParaRPr/>
          </a:p>
          <a:p>
            <a:r>
              <a:t>Tell viewers:</a:t>
            </a:r>
          </a:p>
          <a:p>
            <a:r>
              <a:t>“The model is only one part of reliability. The application architecture matters just as much.”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a:t>
            </a:r>
          </a:p>
          <a:p>
            <a:r>
              <a:t>Avoid saying “bigger model = automatically better AI.”</a:t>
            </a:r>
          </a:p>
          <a:p>
            <a:endParaRPr/>
          </a:p>
          <a:p>
            <a:r>
              <a:t>Instead explain that the system is evolving along several dimensions:</a:t>
            </a:r>
          </a:p>
          <a:p>
            <a:r>
              <a:t>reasoning, multimodality, agentic behavior, efficiency, specialization and better evaluation.</a:t>
            </a:r>
          </a:p>
          <a:p>
            <a:endParaRPr/>
          </a:p>
          <a:p>
            <a:r>
              <a:t>Mention that NVIDIA’s current Nemotron direction explicitly targets long-running multi-step agents, showing how foundation models are being optimized for system-level workloads.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FAST RECAP:</a:t>
            </a:r>
          </a:p>
          <a:p>
            <a:r>
              <a:t>Pause after each term and let the viewer repeat it.</a:t>
            </a:r>
          </a:p>
          <a:p>
            <a:endParaRPr/>
          </a:p>
          <a:p>
            <a:r>
              <a:t>Foundation model → broad reusable base.</a:t>
            </a:r>
          </a:p>
          <a:p>
            <a:r>
              <a:t>Pretraining → broad learning.</a:t>
            </a:r>
          </a:p>
          <a:p>
            <a:r>
              <a:t>Post-training → useful behavior.</a:t>
            </a:r>
          </a:p>
          <a:p>
            <a:r>
              <a:t>Prompt → instruction.</a:t>
            </a:r>
          </a:p>
          <a:p>
            <a:r>
              <a:t>RAG → external knowledge.</a:t>
            </a:r>
          </a:p>
          <a:p>
            <a:r>
              <a:t>Fine-tuning → specialized behavior.</a:t>
            </a:r>
          </a:p>
          <a:p>
            <a:r>
              <a:t>Tools → actions.</a:t>
            </a:r>
          </a:p>
          <a:p>
            <a:r>
              <a:t>Agent → iterative model-driven work.</a:t>
            </a:r>
          </a:p>
          <a:p>
            <a:endParaRPr/>
          </a:p>
          <a:p>
            <a:r>
              <a:t>If viewers remember only this slide, the video succeeded.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a:t>
            </a:r>
          </a:p>
          <a:p>
            <a:r>
              <a:t>The key idea is that modern AI is moving from isolated generation toward systems that can reason, retrieve information, use tools and complete multi-step tasks.</a:t>
            </a:r>
          </a:p>
          <a:p>
            <a:endParaRPr/>
          </a:p>
          <a:p>
            <a:r>
              <a:t>CTA:</a:t>
            </a:r>
          </a:p>
          <a:p>
            <a:r>
              <a:t>“If you want, my next video will build a tiny foundation-model application from scratch: model + RAG + tools + agent loop.”</a:t>
            </a:r>
          </a:p>
          <a:p>
            <a:endParaRPr/>
          </a:p>
          <a:p>
            <a:r>
              <a:t>End with:</a:t>
            </a:r>
          </a:p>
          <a:p>
            <a:r>
              <a:t>“Don’t just learn how to call an AI model. Learn how to build systems around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
              </a:t>
            </a:r>
          </a:p>
        </p:txBody>
      </p:sp>
      <p:sp>
        <p:nvSpPr>
          <p:cNvPr id="10" name="Picture Placeholder 9">
            <a:extLst>
              <a:ext uri="{FF2B5EF4-FFF2-40B4-BE49-F238E27FC236}">
                <a16:creationId xmlns:a16="http://schemas.microsoft.com/office/drawing/2014/main" id="{884C280F-E753-FE97-A722-F86168AC97B1}"/>
              </a:ext>
            </a:extLst>
          </p:cNvPr>
          <p:cNvSpPr>
            <a:spLocks noGrp="1" noChangeAspect="1"/>
          </p:cNvSpPr>
          <p:nvPr>
            <p:ph type="pic" sz="quarter" idx="13" hasCustomPrompt="1"/>
          </p:nvPr>
        </p:nvSpPr>
        <p:spPr>
          <a:xfrm>
            <a:off x="841248" y="964074"/>
            <a:ext cx="5403280" cy="5258929"/>
          </a:xfrm>
          <a:custGeom>
            <a:avLst/>
            <a:gdLst/>
            <a:ahLst/>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chor="t">
            <a:noAutofit/>
          </a:bodyPr>
          <a:lstStyle>
            <a:lvl1pPr>
              <a:defRPr>
                <a:solidFill>
                  <a:schemeClr val="tx1"/>
                </a:solidFill>
              </a:defRPr>
            </a:lvl1pPr>
          </a:lstStyle>
          <a:p>
            <a:endParaRP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FigureOut">
              <a:rPr lang="en-US" dirty="0"/>
              <a:t>9/14/2026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dirty="0"/>
              <a:pPr/>
              <a:t>‹#›</a:t>
            </a:fld>
            <a:endParaRPr lang="en-US" dirty="0"/>
          </a:p>
        </p:txBody>
      </p:sp>
    </p:spTree>
    <p:extLst>
      <p:ext uri="{BB962C8B-B14F-4D97-AF65-F5344CB8AC3E}">
        <p14:creationId xmlns:p14="http://schemas.microsoft.com/office/powerpoint/2010/main" val="7041557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85882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
              </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FigureOut">
              <a:rPr lang="en-US" dirty="0"/>
              <a:t>9/14/2026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18056848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dirty="0"/>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
              </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FigureOut">
              <a:rPr lang="en-US" dirty="0"/>
              <a:t>9/14/2026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29532748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00065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ahLst/>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56006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Picture Placeholder 7">
            <a:extLst>
              <a:ext uri="{FF2B5EF4-FFF2-40B4-BE49-F238E27FC236}">
                <a16:creationId xmlns:a16="http://schemas.microsoft.com/office/drawing/2014/main" id="{4E5AAB3D-814D-597A-6ADE-F522A8116DCD}"/>
              </a:ext>
            </a:extLst>
          </p:cNvPr>
          <p:cNvSpPr>
            <a:spLocks noGrp="1" noChangeAspect="1"/>
          </p:cNvSpPr>
          <p:nvPr>
            <p:ph type="pic" idx="13" hasCustomPrompt="1"/>
          </p:nvPr>
        </p:nvSpPr>
        <p:spPr>
          <a:xfrm>
            <a:off x="1257301" y="1097280"/>
            <a:ext cx="3776470" cy="3168100"/>
          </a:xfrm>
          <a:custGeom>
            <a:avLst/>
            <a:gdLst/>
            <a:ahLst/>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chor="t">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dirty="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57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41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8430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0" y="0"/>
            <a:ext cx="8326323" cy="6858000"/>
          </a:xfrm>
          <a:custGeom>
            <a:avLst/>
            <a:gdLst/>
            <a:ahLst/>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chor="t">
            <a:noAutofit/>
          </a:bodyPr>
          <a:lstStyle>
            <a:lvl1pPr marL="0" indent="0">
              <a:buFont typeface="Arial" panose="020B0604020202020204" pitchFamily="34" charset="0"/>
              <a:buNone/>
              <a:defRPr/>
            </a:lvl1pPr>
          </a:lstStyle>
          <a:p>
            <a:endParaRP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dirty="0"/>
              <a:t>
              </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FigureOut">
              <a:rPr lang="en-US" dirty="0"/>
              <a:pPr/>
              <a:t>9/14/2026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639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FigureOut">
              <a:rPr lang="en-US" dirty="0"/>
              <a:pPr/>
              <a:t>9/14/2026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dirty="0"/>
              <a:t>
              </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1127934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9/14/2026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914587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9/14/2026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4003729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9/14/2026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268195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9/14/2026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33227904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FigureOut">
              <a:rPr lang="en-US" dirty="0"/>
              <a:pPr/>
              <a:t>9/14/2026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60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16" name="Picture Placeholder 15">
            <a:extLst>
              <a:ext uri="{FF2B5EF4-FFF2-40B4-BE49-F238E27FC236}">
                <a16:creationId xmlns:a16="http://schemas.microsoft.com/office/drawing/2014/main" id="{838F5DE0-1AA8-5320-EBEC-7B2EEF399630}"/>
              </a:ext>
            </a:extLst>
          </p:cNvPr>
          <p:cNvSpPr>
            <a:spLocks noGrp="1" noChangeAspect="1"/>
          </p:cNvSpPr>
          <p:nvPr>
            <p:ph type="pic" sz="quarter" idx="13" hasCustomPrompt="1"/>
          </p:nvPr>
        </p:nvSpPr>
        <p:spPr>
          <a:xfrm>
            <a:off x="731520" y="548642"/>
            <a:ext cx="3490175" cy="4041647"/>
          </a:xfrm>
          <a:custGeom>
            <a:avLst/>
            <a:gdLst/>
            <a:ahLst/>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chor="t">
            <a:noAutofit/>
          </a:bodyPr>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FigureOut">
              <a:rPr lang="en-US" dirty="0"/>
              <a:pPr/>
              <a:t>9/14/2026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3073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
              </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FigureOut">
              <a:rPr lang="en-US" dirty="0"/>
              <a:pPr/>
              <a:t>9/14/2026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13653"/>
            <a:ext cx="6533071" cy="5144347"/>
          </a:xfrm>
          <a:custGeom>
            <a:avLst/>
            <a:gdLst/>
            <a:ahLst/>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chor="t">
            <a:noAutofit/>
          </a:bodyPr>
          <a:lstStyle>
            <a:lvl1pPr marL="0" indent="0">
              <a:buFont typeface="Arial" panose="020B0604020202020204" pitchFamily="34" charset="0"/>
              <a:buNone/>
              <a:defRPr lang="en-US" dirty="0"/>
            </a:lvl1pPr>
          </a:lstStyle>
          <a:p>
            <a:pPr marL="285750" lvl="0" indent="-285750"/>
            <a:endParaRPr/>
          </a:p>
        </p:txBody>
      </p:sp>
    </p:spTree>
    <p:extLst>
      <p:ext uri="{BB962C8B-B14F-4D97-AF65-F5344CB8AC3E}">
        <p14:creationId xmlns:p14="http://schemas.microsoft.com/office/powerpoint/2010/main" val="644107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8045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FigureOut">
              <a:rPr lang="en-US" dirty="0"/>
              <a:pPr/>
              <a:t>9/14/2026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43797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716241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FigureOut">
              <a:rPr lang="en-US" dirty="0"/>
              <a:pPr/>
              <a:t>9/14/2026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0430822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FigureOut">
              <a:rPr lang="en-US" dirty="0"/>
              <a:pPr/>
              <a:t>9/14/2026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3598340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FigureOut">
              <a:rPr lang="en-US" dirty="0"/>
              <a:pPr/>
              <a:t>9/14/2026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323400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FigureOut">
              <a:rPr lang="en-US" dirty="0"/>
              <a:pPr/>
              <a:t>9/14/2026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5979104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658131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889446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44734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FigureOut">
              <a:rPr lang="en-US" dirty="0"/>
              <a:pPr/>
              <a:t>9/14/2026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dirty="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698883"/>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 id="2147483804" r:id="rId28"/>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www.praneethbadanapally.com/" TargetMode="External"/><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hyperlink" Target="https://iabac.org/blog/what-is-data-analytics-job" TargetMode="External"/><Relationship Id="rId4" Type="http://schemas.openxmlformats.org/officeDocument/2006/relationships/diagramData" Target="../diagrams/data1.xml"/><Relationship Id="rId9" Type="http://schemas.openxmlformats.org/officeDocument/2006/relationships/image" Target="../media/image9.jpeg"/></Relationships>
</file>

<file path=ppt/slides/_rels/slide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s://www.praneethbadanapally.com/" TargetMode="External"/><Relationship Id="rId7"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8.xml"/><Relationship Id="rId6" Type="http://schemas.openxmlformats.org/officeDocument/2006/relationships/image" Target="../media/image11.jpeg"/><Relationship Id="rId5" Type="http://schemas.openxmlformats.org/officeDocument/2006/relationships/hyperlink" Target="https://www.bodnara.co.kr/bbs/article.html?num=190475" TargetMode="External"/><Relationship Id="rId10" Type="http://schemas.openxmlformats.org/officeDocument/2006/relationships/hyperlink" Target="https://androidpc.es/se-filtran-datos-de-la-nueva-nvidia-shield-tablet-2/" TargetMode="External"/><Relationship Id="rId4" Type="http://schemas.openxmlformats.org/officeDocument/2006/relationships/image" Target="../media/image10.jpeg"/><Relationship Id="rId9"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hyperlink" Target="https://www.praneethbadanapally.com/" TargetMode="External"/><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FOUNDATION MODELS</a:t>
            </a:r>
          </a:p>
        </p:txBody>
      </p:sp>
      <p:sp>
        <p:nvSpPr>
          <p:cNvPr id="4" name="TextBox 3"/>
          <p:cNvSpPr txBox="1"/>
          <p:nvPr/>
        </p:nvSpPr>
        <p:spPr>
          <a:xfrm>
            <a:off x="640080" y="1828800"/>
            <a:ext cx="6707542" cy="1138773"/>
          </a:xfrm>
          <a:prstGeom prst="rect">
            <a:avLst/>
          </a:prstGeom>
          <a:noFill/>
        </p:spPr>
        <p:txBody>
          <a:bodyPr wrap="none" lIns="91440" tIns="45720" rIns="91440" bIns="45720" anchor="t">
            <a:spAutoFit/>
          </a:bodyPr>
          <a:lstStyle/>
          <a:p>
            <a:r>
              <a:rPr sz="3400" b="1" dirty="0"/>
              <a:t>From “predict the next token” to</a:t>
            </a:r>
            <a:endParaRPr lang="en-US" dirty="0"/>
          </a:p>
          <a:p>
            <a:r>
              <a:rPr lang="en-GB" sz="3400" b="1" dirty="0"/>
              <a:t> </a:t>
            </a:r>
            <a:r>
              <a:rPr sz="3400" b="1" dirty="0"/>
              <a:t>AI that can reason, see, code and act</a:t>
            </a:r>
            <a:endParaRPr dirty="0"/>
          </a:p>
        </p:txBody>
      </p:sp>
      <p:sp>
        <p:nvSpPr>
          <p:cNvPr id="5" name="TextBox 4"/>
          <p:cNvSpPr txBox="1"/>
          <p:nvPr/>
        </p:nvSpPr>
        <p:spPr>
          <a:xfrm>
            <a:off x="640080" y="3291840"/>
            <a:ext cx="10789920" cy="640080"/>
          </a:xfrm>
          <a:prstGeom prst="rect">
            <a:avLst/>
          </a:prstGeom>
          <a:noFill/>
        </p:spPr>
        <p:txBody>
          <a:bodyPr wrap="none">
            <a:spAutoFit/>
          </a:bodyPr>
          <a:lstStyle/>
          <a:p>
            <a:pPr algn="l"/>
            <a:r>
              <a:rPr sz="2200" b="0"/>
              <a:t>A simple 2026 guide for beginners</a:t>
            </a:r>
          </a:p>
        </p:txBody>
      </p:sp>
      <p:sp>
        <p:nvSpPr>
          <p:cNvPr id="6" name="TextBox 5"/>
          <p:cNvSpPr txBox="1"/>
          <p:nvPr/>
        </p:nvSpPr>
        <p:spPr>
          <a:xfrm>
            <a:off x="640080" y="3977639"/>
            <a:ext cx="10789920" cy="548640"/>
          </a:xfrm>
          <a:prstGeom prst="rect">
            <a:avLst/>
          </a:prstGeom>
          <a:noFill/>
        </p:spPr>
        <p:txBody>
          <a:bodyPr wrap="none">
            <a:spAutoFit/>
          </a:bodyPr>
          <a:lstStyle/>
          <a:p>
            <a:pPr algn="l"/>
            <a:r>
              <a:rPr sz="1800" b="0"/>
              <a:t>Updated: September 2026</a:t>
            </a:r>
          </a:p>
        </p:txBody>
      </p:sp>
      <p:sp>
        <p:nvSpPr>
          <p:cNvPr id="7" name="TextBox 6"/>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8" name="TextBox 7"/>
          <p:cNvSpPr txBox="1"/>
          <p:nvPr/>
        </p:nvSpPr>
        <p:spPr>
          <a:xfrm>
            <a:off x="11155680" y="6446520"/>
            <a:ext cx="457200" cy="228600"/>
          </a:xfrm>
          <a:prstGeom prst="rect">
            <a:avLst/>
          </a:prstGeom>
          <a:noFill/>
        </p:spPr>
        <p:txBody>
          <a:bodyPr wrap="none">
            <a:spAutoFit/>
          </a:bodyPr>
          <a:lstStyle/>
          <a:p>
            <a:pPr algn="r"/>
            <a:r>
              <a:rPr sz="1000" b="0"/>
              <a:t>1</a:t>
            </a:r>
          </a:p>
        </p:txBody>
      </p:sp>
      <p:sp>
        <p:nvSpPr>
          <p:cNvPr id="13" name="TextBox 12">
            <a:extLst>
              <a:ext uri="{FF2B5EF4-FFF2-40B4-BE49-F238E27FC236}">
                <a16:creationId xmlns:a16="http://schemas.microsoft.com/office/drawing/2014/main" id="{BA74AE4D-A04D-5A35-054B-F32CD3684B09}"/>
              </a:ext>
            </a:extLst>
          </p:cNvPr>
          <p:cNvSpPr txBox="1"/>
          <p:nvPr/>
        </p:nvSpPr>
        <p:spPr>
          <a:xfrm>
            <a:off x="549354" y="5838931"/>
            <a:ext cx="53007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070C0"/>
                </a:solidFill>
                <a:ea typeface="+mn-lt"/>
                <a:cs typeface="+mn-lt"/>
                <a:hlinkClick r:id="rId3">
                  <a:extLst>
                    <a:ext uri="{A12FA001-AC4F-418D-AE19-62706E023703}">
                      <ahyp:hlinkClr xmlns:ahyp="http://schemas.microsoft.com/office/drawing/2018/hyperlinkcolor" val="tx"/>
                    </a:ext>
                  </a:extLst>
                </a:hlinkClick>
              </a:rPr>
              <a:t>https://www.praneethbadanapally.com/</a:t>
            </a:r>
            <a:endParaRPr lang="en-US" b="1">
              <a:solidFill>
                <a:srgbClr val="0070C0"/>
              </a:solidFill>
              <a:ea typeface="+mn-lt"/>
              <a:cs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22688"/>
            <a:ext cx="10972800" cy="685800"/>
          </a:xfrm>
          <a:prstGeom prst="rect">
            <a:avLst/>
          </a:prstGeom>
          <a:noFill/>
        </p:spPr>
        <p:txBody>
          <a:bodyPr wrap="none">
            <a:spAutoFit/>
          </a:bodyPr>
          <a:lstStyle/>
          <a:p>
            <a:pPr algn="l"/>
            <a:r>
              <a:rPr sz="3000" b="1"/>
              <a:t>1. The 30-second idea</a:t>
            </a:r>
          </a:p>
        </p:txBody>
      </p:sp>
      <p:sp>
        <p:nvSpPr>
          <p:cNvPr id="4" name="TextBox 3"/>
          <p:cNvSpPr txBox="1"/>
          <p:nvPr/>
        </p:nvSpPr>
        <p:spPr>
          <a:xfrm>
            <a:off x="777240" y="1910171"/>
            <a:ext cx="10247036" cy="2785378"/>
          </a:xfrm>
          <a:prstGeom prst="rect">
            <a:avLst/>
          </a:prstGeom>
          <a:noFill/>
        </p:spPr>
        <p:txBody>
          <a:bodyPr wrap="none" lIns="91440" tIns="45720" rIns="91440" bIns="45720" anchor="t">
            <a:spAutoFit/>
          </a:bodyPr>
          <a:lstStyle/>
          <a:p>
            <a:r>
              <a:rPr sz="2500" b="0" dirty="0"/>
              <a:t>• A foundation model is a general-purpose AI base model trained at large scale.</a:t>
            </a:r>
            <a:endParaRPr lang="en-US" sz="2500" dirty="0"/>
          </a:p>
          <a:p>
            <a:r>
              <a:rPr lang="en-US" sz="2500" dirty="0"/>
              <a:t>• Instead of building one model for every task, we start with one strong base.</a:t>
            </a:r>
          </a:p>
          <a:p>
            <a:r>
              <a:rPr lang="en-US" sz="2500" dirty="0"/>
              <a:t>• Then we adapt it with prompting, retrieval, fine-tuning or tools.</a:t>
            </a:r>
          </a:p>
          <a:p>
            <a:r>
              <a:rPr lang="en-US" sz="2500" dirty="0"/>
              <a:t>• Think: “AI engine” → many applications.</a:t>
            </a:r>
          </a:p>
          <a:p>
            <a:pPr algn="l"/>
            <a:endParaRPr lang="en-US" sz="2500" b="0" dirty="0"/>
          </a:p>
          <a:p>
            <a:endParaRPr lang="en-US" sz="2500" dirty="0"/>
          </a:p>
          <a:p>
            <a:endParaRPr lang="en-US" sz="2500" dirty="0"/>
          </a:p>
        </p:txBody>
      </p:sp>
      <p:sp>
        <p:nvSpPr>
          <p:cNvPr id="8" name="TextBox 7"/>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9" name="TextBox 8"/>
          <p:cNvSpPr txBox="1"/>
          <p:nvPr/>
        </p:nvSpPr>
        <p:spPr>
          <a:xfrm>
            <a:off x="11155680" y="6446520"/>
            <a:ext cx="457200" cy="228600"/>
          </a:xfrm>
          <a:prstGeom prst="rect">
            <a:avLst/>
          </a:prstGeom>
          <a:noFill/>
        </p:spPr>
        <p:txBody>
          <a:bodyPr wrap="none">
            <a:spAutoFit/>
          </a:bodyPr>
          <a:lstStyle/>
          <a:p>
            <a:pPr algn="r"/>
            <a:r>
              <a:rPr sz="1000" b="0"/>
              <a:t>2</a:t>
            </a:r>
          </a:p>
        </p:txBody>
      </p:sp>
      <p:sp>
        <p:nvSpPr>
          <p:cNvPr id="5" name="TextBox 4">
            <a:extLst>
              <a:ext uri="{FF2B5EF4-FFF2-40B4-BE49-F238E27FC236}">
                <a16:creationId xmlns:a16="http://schemas.microsoft.com/office/drawing/2014/main" id="{9F4F9D62-6352-B76A-814F-85E6191964AF}"/>
              </a:ext>
            </a:extLst>
          </p:cNvPr>
          <p:cNvSpPr txBox="1"/>
          <p:nvPr/>
        </p:nvSpPr>
        <p:spPr>
          <a:xfrm>
            <a:off x="551089" y="5803446"/>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endParaRPr lang="en-US" dirty="0">
              <a:solidFill>
                <a:srgbClr val="0070C0"/>
              </a:solidFill>
            </a:endParaRPr>
          </a:p>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2. Why is it called a FOUNDATION?</a:t>
            </a:r>
          </a:p>
        </p:txBody>
      </p:sp>
      <p:sp>
        <p:nvSpPr>
          <p:cNvPr id="4" name="TextBox 3"/>
          <p:cNvSpPr txBox="1"/>
          <p:nvPr/>
        </p:nvSpPr>
        <p:spPr>
          <a:xfrm>
            <a:off x="777240" y="1910171"/>
            <a:ext cx="1804725" cy="415498"/>
          </a:xfrm>
          <a:prstGeom prst="rect">
            <a:avLst/>
          </a:prstGeom>
          <a:noFill/>
        </p:spPr>
        <p:txBody>
          <a:bodyPr wrap="none" lIns="91440" tIns="45720" rIns="91440" bIns="45720" anchor="t">
            <a:spAutoFit/>
          </a:bodyPr>
          <a:lstStyle/>
          <a:p>
            <a:pPr algn="l"/>
            <a:r>
              <a:rPr sz="2100" b="0" dirty="0"/>
              <a:t>House analogy:</a:t>
            </a:r>
          </a:p>
        </p:txBody>
      </p:sp>
      <p:sp>
        <p:nvSpPr>
          <p:cNvPr id="5" name="TextBox 4"/>
          <p:cNvSpPr txBox="1"/>
          <p:nvPr/>
        </p:nvSpPr>
        <p:spPr>
          <a:xfrm>
            <a:off x="777240" y="2221991"/>
            <a:ext cx="4193649" cy="415498"/>
          </a:xfrm>
          <a:prstGeom prst="rect">
            <a:avLst/>
          </a:prstGeom>
          <a:noFill/>
        </p:spPr>
        <p:txBody>
          <a:bodyPr wrap="none" lIns="91440" tIns="45720" rIns="91440" bIns="45720" anchor="t">
            <a:spAutoFit/>
          </a:bodyPr>
          <a:lstStyle/>
          <a:p>
            <a:pPr algn="l"/>
            <a:r>
              <a:rPr sz="2100" b="0" dirty="0"/>
              <a:t>• Foundation = the pretrained model</a:t>
            </a:r>
          </a:p>
        </p:txBody>
      </p:sp>
      <p:sp>
        <p:nvSpPr>
          <p:cNvPr id="6" name="TextBox 5"/>
          <p:cNvSpPr txBox="1"/>
          <p:nvPr/>
        </p:nvSpPr>
        <p:spPr>
          <a:xfrm>
            <a:off x="777240" y="2935224"/>
            <a:ext cx="3910751" cy="415498"/>
          </a:xfrm>
          <a:prstGeom prst="rect">
            <a:avLst/>
          </a:prstGeom>
          <a:noFill/>
        </p:spPr>
        <p:txBody>
          <a:bodyPr wrap="none" lIns="91440" tIns="45720" rIns="91440" bIns="45720" anchor="t">
            <a:spAutoFit/>
          </a:bodyPr>
          <a:lstStyle/>
          <a:p>
            <a:pPr algn="l"/>
            <a:r>
              <a:rPr sz="2100" b="0" dirty="0"/>
              <a:t>• Rooms = specialized applications</a:t>
            </a:r>
          </a:p>
        </p:txBody>
      </p:sp>
      <p:sp>
        <p:nvSpPr>
          <p:cNvPr id="7" name="TextBox 6"/>
          <p:cNvSpPr txBox="1"/>
          <p:nvPr/>
        </p:nvSpPr>
        <p:spPr>
          <a:xfrm>
            <a:off x="777240" y="3648456"/>
            <a:ext cx="4912820" cy="415498"/>
          </a:xfrm>
          <a:prstGeom prst="rect">
            <a:avLst/>
          </a:prstGeom>
          <a:noFill/>
        </p:spPr>
        <p:txBody>
          <a:bodyPr wrap="none" lIns="91440" tIns="45720" rIns="91440" bIns="45720" anchor="t">
            <a:spAutoFit/>
          </a:bodyPr>
          <a:lstStyle/>
          <a:p>
            <a:pPr algn="l"/>
            <a:r>
              <a:rPr sz="2100" b="0" dirty="0"/>
              <a:t>• Furniture = prompts, data, RAG and tools</a:t>
            </a:r>
          </a:p>
        </p:txBody>
      </p:sp>
      <p:sp>
        <p:nvSpPr>
          <p:cNvPr id="8" name="TextBox 7"/>
          <p:cNvSpPr txBox="1"/>
          <p:nvPr/>
        </p:nvSpPr>
        <p:spPr>
          <a:xfrm>
            <a:off x="777240" y="4361688"/>
            <a:ext cx="10607040" cy="621792"/>
          </a:xfrm>
          <a:prstGeom prst="rect">
            <a:avLst/>
          </a:prstGeom>
          <a:noFill/>
        </p:spPr>
        <p:txBody>
          <a:bodyPr wrap="none">
            <a:spAutoFit/>
          </a:bodyPr>
          <a:lstStyle/>
          <a:p>
            <a:pPr algn="l"/>
            <a:r>
              <a:rPr sz="2100" b="0"/>
              <a:t>• The same base can power chat, coding, search, vision and agents.</a:t>
            </a:r>
          </a:p>
        </p:txBody>
      </p:sp>
      <p:sp>
        <p:nvSpPr>
          <p:cNvPr id="9" name="TextBox 8"/>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0" name="TextBox 9"/>
          <p:cNvSpPr txBox="1"/>
          <p:nvPr/>
        </p:nvSpPr>
        <p:spPr>
          <a:xfrm>
            <a:off x="11155680" y="6446520"/>
            <a:ext cx="457200" cy="228600"/>
          </a:xfrm>
          <a:prstGeom prst="rect">
            <a:avLst/>
          </a:prstGeom>
          <a:noFill/>
        </p:spPr>
        <p:txBody>
          <a:bodyPr wrap="none">
            <a:spAutoFit/>
          </a:bodyPr>
          <a:lstStyle/>
          <a:p>
            <a:pPr algn="r"/>
            <a:r>
              <a:rPr sz="1000" b="0"/>
              <a:t>3</a:t>
            </a:r>
          </a:p>
        </p:txBody>
      </p:sp>
      <p:sp>
        <p:nvSpPr>
          <p:cNvPr id="11" name="TextBox 10">
            <a:extLst>
              <a:ext uri="{FF2B5EF4-FFF2-40B4-BE49-F238E27FC236}">
                <a16:creationId xmlns:a16="http://schemas.microsoft.com/office/drawing/2014/main" id="{4A6CB93E-9C6F-85D8-EC57-83CF3C0275AA}"/>
              </a:ext>
            </a:extLst>
          </p:cNvPr>
          <p:cNvSpPr txBox="1"/>
          <p:nvPr/>
        </p:nvSpPr>
        <p:spPr>
          <a:xfrm>
            <a:off x="548106" y="5795211"/>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endParaRPr lang="en-US" dirty="0">
              <a:solidFill>
                <a:srgbClr val="0070C0"/>
              </a:solidFill>
            </a:endParaRPr>
          </a:p>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3. How does a foundation model learn?</a:t>
            </a:r>
          </a:p>
        </p:txBody>
      </p:sp>
      <p:sp>
        <p:nvSpPr>
          <p:cNvPr id="4" name="TextBox 3"/>
          <p:cNvSpPr txBox="1"/>
          <p:nvPr/>
        </p:nvSpPr>
        <p:spPr>
          <a:xfrm>
            <a:off x="777240" y="2110339"/>
            <a:ext cx="10607040" cy="594360"/>
          </a:xfrm>
          <a:prstGeom prst="rect">
            <a:avLst/>
          </a:prstGeom>
          <a:noFill/>
        </p:spPr>
        <p:txBody>
          <a:bodyPr wrap="none">
            <a:spAutoFit/>
          </a:bodyPr>
          <a:lstStyle/>
          <a:p>
            <a:pPr algn="l"/>
            <a:r>
              <a:rPr sz="2200" b="1"/>
              <a:t>STEP 1 — Pretraining: learn patterns from huge datasets</a:t>
            </a:r>
          </a:p>
        </p:txBody>
      </p:sp>
      <p:sp>
        <p:nvSpPr>
          <p:cNvPr id="5" name="TextBox 4"/>
          <p:cNvSpPr txBox="1"/>
          <p:nvPr/>
        </p:nvSpPr>
        <p:spPr>
          <a:xfrm>
            <a:off x="777240" y="2906936"/>
            <a:ext cx="10607040" cy="594360"/>
          </a:xfrm>
          <a:prstGeom prst="rect">
            <a:avLst/>
          </a:prstGeom>
          <a:noFill/>
        </p:spPr>
        <p:txBody>
          <a:bodyPr wrap="none">
            <a:spAutoFit/>
          </a:bodyPr>
          <a:lstStyle/>
          <a:p>
            <a:pPr algn="l"/>
            <a:r>
              <a:rPr sz="2200" b="1"/>
              <a:t>STEP 2 — Self-supervision: create learning signals from the data itself</a:t>
            </a:r>
          </a:p>
        </p:txBody>
      </p:sp>
      <p:sp>
        <p:nvSpPr>
          <p:cNvPr id="6" name="TextBox 5"/>
          <p:cNvSpPr txBox="1"/>
          <p:nvPr/>
        </p:nvSpPr>
        <p:spPr>
          <a:xfrm>
            <a:off x="777240" y="3823849"/>
            <a:ext cx="10607040" cy="594360"/>
          </a:xfrm>
          <a:prstGeom prst="rect">
            <a:avLst/>
          </a:prstGeom>
          <a:noFill/>
        </p:spPr>
        <p:txBody>
          <a:bodyPr wrap="none">
            <a:spAutoFit/>
          </a:bodyPr>
          <a:lstStyle/>
          <a:p>
            <a:pPr algn="l"/>
            <a:r>
              <a:rPr sz="2200" b="1"/>
              <a:t>STEP 3 — Post-training: improve instruction following, reasoning and safety</a:t>
            </a:r>
          </a:p>
        </p:txBody>
      </p:sp>
      <p:sp>
        <p:nvSpPr>
          <p:cNvPr id="7" name="TextBox 6"/>
          <p:cNvSpPr txBox="1"/>
          <p:nvPr/>
        </p:nvSpPr>
        <p:spPr>
          <a:xfrm>
            <a:off x="777240" y="4587025"/>
            <a:ext cx="10607040" cy="594360"/>
          </a:xfrm>
          <a:prstGeom prst="rect">
            <a:avLst/>
          </a:prstGeom>
          <a:noFill/>
        </p:spPr>
        <p:txBody>
          <a:bodyPr wrap="none">
            <a:spAutoFit/>
          </a:bodyPr>
          <a:lstStyle/>
          <a:p>
            <a:pPr algn="l"/>
            <a:r>
              <a:rPr sz="2200" b="1"/>
              <a:t>STEP 4 — Deployment: generate an output token-by-token or through another generation process</a:t>
            </a:r>
          </a:p>
        </p:txBody>
      </p:sp>
      <p:sp>
        <p:nvSpPr>
          <p:cNvPr id="8" name="TextBox 7"/>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9" name="TextBox 8"/>
          <p:cNvSpPr txBox="1"/>
          <p:nvPr/>
        </p:nvSpPr>
        <p:spPr>
          <a:xfrm>
            <a:off x="11155680" y="6446520"/>
            <a:ext cx="457200" cy="228600"/>
          </a:xfrm>
          <a:prstGeom prst="rect">
            <a:avLst/>
          </a:prstGeom>
          <a:noFill/>
        </p:spPr>
        <p:txBody>
          <a:bodyPr wrap="none">
            <a:spAutoFit/>
          </a:bodyPr>
          <a:lstStyle/>
          <a:p>
            <a:pPr algn="r"/>
            <a:r>
              <a:rPr sz="1000" b="0"/>
              <a:t>4</a:t>
            </a:r>
          </a:p>
        </p:txBody>
      </p:sp>
      <p:sp>
        <p:nvSpPr>
          <p:cNvPr id="10" name="TextBox 9">
            <a:extLst>
              <a:ext uri="{FF2B5EF4-FFF2-40B4-BE49-F238E27FC236}">
                <a16:creationId xmlns:a16="http://schemas.microsoft.com/office/drawing/2014/main" id="{7E6F85A5-CEC8-B329-83A8-2D20A8F00321}"/>
              </a:ext>
            </a:extLst>
          </p:cNvPr>
          <p:cNvSpPr txBox="1"/>
          <p:nvPr/>
        </p:nvSpPr>
        <p:spPr>
          <a:xfrm>
            <a:off x="548105" y="5795211"/>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4. A simple example: next-token prediction</a:t>
            </a:r>
          </a:p>
        </p:txBody>
      </p:sp>
      <p:sp>
        <p:nvSpPr>
          <p:cNvPr id="4" name="TextBox 3"/>
          <p:cNvSpPr txBox="1"/>
          <p:nvPr/>
        </p:nvSpPr>
        <p:spPr>
          <a:xfrm>
            <a:off x="683661" y="1883076"/>
            <a:ext cx="10607040" cy="621792"/>
          </a:xfrm>
          <a:prstGeom prst="rect">
            <a:avLst/>
          </a:prstGeom>
          <a:noFill/>
        </p:spPr>
        <p:txBody>
          <a:bodyPr wrap="none">
            <a:spAutoFit/>
          </a:bodyPr>
          <a:lstStyle/>
          <a:p>
            <a:pPr algn="l"/>
            <a:r>
              <a:rPr sz="2100" b="0"/>
              <a:t>• Prompt: “The capital of France is …”</a:t>
            </a:r>
          </a:p>
        </p:txBody>
      </p:sp>
      <p:sp>
        <p:nvSpPr>
          <p:cNvPr id="5" name="TextBox 4"/>
          <p:cNvSpPr txBox="1"/>
          <p:nvPr/>
        </p:nvSpPr>
        <p:spPr>
          <a:xfrm>
            <a:off x="683661" y="2656465"/>
            <a:ext cx="10607040" cy="621792"/>
          </a:xfrm>
          <a:prstGeom prst="rect">
            <a:avLst/>
          </a:prstGeom>
          <a:noFill/>
        </p:spPr>
        <p:txBody>
          <a:bodyPr wrap="none">
            <a:spAutoFit/>
          </a:bodyPr>
          <a:lstStyle/>
          <a:p>
            <a:pPr algn="l"/>
            <a:r>
              <a:rPr sz="2100" b="0"/>
              <a:t>• The model calculates probabilities for possible next tokens.</a:t>
            </a:r>
          </a:p>
        </p:txBody>
      </p:sp>
      <p:sp>
        <p:nvSpPr>
          <p:cNvPr id="6" name="TextBox 5"/>
          <p:cNvSpPr txBox="1"/>
          <p:nvPr/>
        </p:nvSpPr>
        <p:spPr>
          <a:xfrm>
            <a:off x="777240" y="3429856"/>
            <a:ext cx="10607040" cy="621792"/>
          </a:xfrm>
          <a:prstGeom prst="rect">
            <a:avLst/>
          </a:prstGeom>
          <a:noFill/>
        </p:spPr>
        <p:txBody>
          <a:bodyPr wrap="none">
            <a:spAutoFit/>
          </a:bodyPr>
          <a:lstStyle/>
          <a:p>
            <a:pPr algn="l"/>
            <a:r>
              <a:rPr sz="2100" b="0"/>
              <a:t>• It selects/samples a token, adds it to the context, and repeats.</a:t>
            </a:r>
          </a:p>
        </p:txBody>
      </p:sp>
      <p:sp>
        <p:nvSpPr>
          <p:cNvPr id="7" name="TextBox 6"/>
          <p:cNvSpPr txBox="1"/>
          <p:nvPr/>
        </p:nvSpPr>
        <p:spPr>
          <a:xfrm>
            <a:off x="790608" y="4209930"/>
            <a:ext cx="10607040" cy="621792"/>
          </a:xfrm>
          <a:prstGeom prst="rect">
            <a:avLst/>
          </a:prstGeom>
          <a:noFill/>
        </p:spPr>
        <p:txBody>
          <a:bodyPr wrap="none">
            <a:spAutoFit/>
          </a:bodyPr>
          <a:lstStyle/>
          <a:p>
            <a:pPr algn="l"/>
            <a:r>
              <a:rPr sz="2100" b="0"/>
              <a:t>• Important: this simple loop can produce surprisingly complex behavior after large-scale training.</a:t>
            </a:r>
          </a:p>
        </p:txBody>
      </p:sp>
      <p:sp>
        <p:nvSpPr>
          <p:cNvPr id="8" name="TextBox 7"/>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9" name="TextBox 8"/>
          <p:cNvSpPr txBox="1"/>
          <p:nvPr/>
        </p:nvSpPr>
        <p:spPr>
          <a:xfrm>
            <a:off x="11155680" y="6446520"/>
            <a:ext cx="457200" cy="228600"/>
          </a:xfrm>
          <a:prstGeom prst="rect">
            <a:avLst/>
          </a:prstGeom>
          <a:noFill/>
        </p:spPr>
        <p:txBody>
          <a:bodyPr wrap="none">
            <a:spAutoFit/>
          </a:bodyPr>
          <a:lstStyle/>
          <a:p>
            <a:pPr algn="r"/>
            <a:r>
              <a:rPr sz="1000" b="0"/>
              <a:t>5</a:t>
            </a:r>
          </a:p>
        </p:txBody>
      </p:sp>
      <p:sp>
        <p:nvSpPr>
          <p:cNvPr id="10" name="TextBox 9">
            <a:extLst>
              <a:ext uri="{FF2B5EF4-FFF2-40B4-BE49-F238E27FC236}">
                <a16:creationId xmlns:a16="http://schemas.microsoft.com/office/drawing/2014/main" id="{DD54C735-9FAB-9CCA-2C91-28CD299A1F7C}"/>
              </a:ext>
            </a:extLst>
          </p:cNvPr>
          <p:cNvSpPr txBox="1"/>
          <p:nvPr/>
        </p:nvSpPr>
        <p:spPr>
          <a:xfrm>
            <a:off x="548105" y="5795211"/>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pPr algn="ctr"/>
            <a:endParaRPr lang="en-US" dirty="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5. What changed by 2026?</a:t>
            </a:r>
          </a:p>
        </p:txBody>
      </p:sp>
      <p:sp>
        <p:nvSpPr>
          <p:cNvPr id="4" name="TextBox 3"/>
          <p:cNvSpPr txBox="1"/>
          <p:nvPr/>
        </p:nvSpPr>
        <p:spPr>
          <a:xfrm>
            <a:off x="777240" y="1869349"/>
            <a:ext cx="10607040" cy="621792"/>
          </a:xfrm>
          <a:prstGeom prst="rect">
            <a:avLst/>
          </a:prstGeom>
          <a:noFill/>
        </p:spPr>
        <p:txBody>
          <a:bodyPr wrap="none">
            <a:spAutoFit/>
          </a:bodyPr>
          <a:lstStyle/>
          <a:p>
            <a:pPr algn="l"/>
            <a:r>
              <a:rPr sz="2100" b="0"/>
              <a:t>• Foundation models are no longer just “text chatbots.”</a:t>
            </a:r>
          </a:p>
        </p:txBody>
      </p:sp>
      <p:sp>
        <p:nvSpPr>
          <p:cNvPr id="5" name="TextBox 4"/>
          <p:cNvSpPr txBox="1"/>
          <p:nvPr/>
        </p:nvSpPr>
        <p:spPr>
          <a:xfrm>
            <a:off x="790847" y="2487330"/>
            <a:ext cx="10607040" cy="621792"/>
          </a:xfrm>
          <a:prstGeom prst="rect">
            <a:avLst/>
          </a:prstGeom>
          <a:noFill/>
        </p:spPr>
        <p:txBody>
          <a:bodyPr wrap="none">
            <a:spAutoFit/>
          </a:bodyPr>
          <a:lstStyle/>
          <a:p>
            <a:pPr algn="l"/>
            <a:r>
              <a:rPr sz="2100" b="0"/>
              <a:t>• Modern families can be multimodal: text + images + audio/video.</a:t>
            </a:r>
          </a:p>
        </p:txBody>
      </p:sp>
      <p:sp>
        <p:nvSpPr>
          <p:cNvPr id="6" name="TextBox 5"/>
          <p:cNvSpPr txBox="1"/>
          <p:nvPr/>
        </p:nvSpPr>
        <p:spPr>
          <a:xfrm>
            <a:off x="777240" y="3302617"/>
            <a:ext cx="10607040" cy="621792"/>
          </a:xfrm>
          <a:prstGeom prst="rect">
            <a:avLst/>
          </a:prstGeom>
          <a:noFill/>
        </p:spPr>
        <p:txBody>
          <a:bodyPr wrap="none">
            <a:spAutoFit/>
          </a:bodyPr>
          <a:lstStyle/>
          <a:p>
            <a:pPr algn="l"/>
            <a:r>
              <a:rPr sz="2100" b="0"/>
              <a:t>• Reasoning models spend more computation on difficult problems.</a:t>
            </a:r>
          </a:p>
        </p:txBody>
      </p:sp>
      <p:sp>
        <p:nvSpPr>
          <p:cNvPr id="7" name="TextBox 6"/>
          <p:cNvSpPr txBox="1"/>
          <p:nvPr/>
        </p:nvSpPr>
        <p:spPr>
          <a:xfrm>
            <a:off x="777240" y="3927402"/>
            <a:ext cx="10607040" cy="621792"/>
          </a:xfrm>
          <a:prstGeom prst="rect">
            <a:avLst/>
          </a:prstGeom>
          <a:noFill/>
        </p:spPr>
        <p:txBody>
          <a:bodyPr wrap="none">
            <a:spAutoFit/>
          </a:bodyPr>
          <a:lstStyle/>
          <a:p>
            <a:pPr algn="l"/>
            <a:r>
              <a:rPr sz="2100" b="0"/>
              <a:t>• Agentic systems connect models to tools and let them perform multi-step work.</a:t>
            </a:r>
          </a:p>
        </p:txBody>
      </p:sp>
      <p:sp>
        <p:nvSpPr>
          <p:cNvPr id="8" name="TextBox 7"/>
          <p:cNvSpPr txBox="1"/>
          <p:nvPr/>
        </p:nvSpPr>
        <p:spPr>
          <a:xfrm>
            <a:off x="777240" y="4722277"/>
            <a:ext cx="10607040" cy="621792"/>
          </a:xfrm>
          <a:prstGeom prst="rect">
            <a:avLst/>
          </a:prstGeom>
          <a:noFill/>
        </p:spPr>
        <p:txBody>
          <a:bodyPr wrap="none">
            <a:spAutoFit/>
          </a:bodyPr>
          <a:lstStyle/>
          <a:p>
            <a:pPr algn="l"/>
            <a:r>
              <a:rPr sz="2100" b="0"/>
              <a:t>• Open-weight models also make self-hosting and customization more practical.</a:t>
            </a:r>
          </a:p>
        </p:txBody>
      </p:sp>
      <p:sp>
        <p:nvSpPr>
          <p:cNvPr id="9" name="TextBox 8"/>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0" name="TextBox 9"/>
          <p:cNvSpPr txBox="1"/>
          <p:nvPr/>
        </p:nvSpPr>
        <p:spPr>
          <a:xfrm>
            <a:off x="11155680" y="6446520"/>
            <a:ext cx="457200" cy="228600"/>
          </a:xfrm>
          <a:prstGeom prst="rect">
            <a:avLst/>
          </a:prstGeom>
          <a:noFill/>
        </p:spPr>
        <p:txBody>
          <a:bodyPr wrap="none">
            <a:spAutoFit/>
          </a:bodyPr>
          <a:lstStyle/>
          <a:p>
            <a:pPr algn="r"/>
            <a:r>
              <a:rPr sz="1000" b="0"/>
              <a:t>6</a:t>
            </a:r>
          </a:p>
        </p:txBody>
      </p:sp>
      <p:sp>
        <p:nvSpPr>
          <p:cNvPr id="11" name="TextBox 10">
            <a:extLst>
              <a:ext uri="{FF2B5EF4-FFF2-40B4-BE49-F238E27FC236}">
                <a16:creationId xmlns:a16="http://schemas.microsoft.com/office/drawing/2014/main" id="{1328961B-26E4-EBB0-0732-EF9BFA16434E}"/>
              </a:ext>
            </a:extLst>
          </p:cNvPr>
          <p:cNvSpPr txBox="1"/>
          <p:nvPr/>
        </p:nvSpPr>
        <p:spPr>
          <a:xfrm>
            <a:off x="551089" y="5803446"/>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endParaRPr lang="en-US" dirty="0"/>
          </a:p>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6. The modern foundation-model stack</a:t>
            </a:r>
          </a:p>
        </p:txBody>
      </p:sp>
      <p:sp>
        <p:nvSpPr>
          <p:cNvPr id="11" name="TextBox 10"/>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2" name="TextBox 11"/>
          <p:cNvSpPr txBox="1"/>
          <p:nvPr/>
        </p:nvSpPr>
        <p:spPr>
          <a:xfrm>
            <a:off x="11155680" y="6446520"/>
            <a:ext cx="457200" cy="228600"/>
          </a:xfrm>
          <a:prstGeom prst="rect">
            <a:avLst/>
          </a:prstGeom>
          <a:noFill/>
        </p:spPr>
        <p:txBody>
          <a:bodyPr wrap="none">
            <a:spAutoFit/>
          </a:bodyPr>
          <a:lstStyle/>
          <a:p>
            <a:pPr algn="r"/>
            <a:r>
              <a:rPr sz="1000" b="0"/>
              <a:t>7</a:t>
            </a:r>
          </a:p>
        </p:txBody>
      </p:sp>
      <p:sp>
        <p:nvSpPr>
          <p:cNvPr id="13" name="TextBox 12">
            <a:extLst>
              <a:ext uri="{FF2B5EF4-FFF2-40B4-BE49-F238E27FC236}">
                <a16:creationId xmlns:a16="http://schemas.microsoft.com/office/drawing/2014/main" id="{E8C46C5F-D7D5-F17D-C2A8-A1189E41244F}"/>
              </a:ext>
            </a:extLst>
          </p:cNvPr>
          <p:cNvSpPr txBox="1"/>
          <p:nvPr/>
        </p:nvSpPr>
        <p:spPr>
          <a:xfrm>
            <a:off x="551089" y="602796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endParaRPr lang="en-US">
              <a:solidFill>
                <a:srgbClr val="0070C0"/>
              </a:solidFill>
              <a:hlinkClick r:id="rId3">
                <a:extLst>
                  <a:ext uri="{A12FA001-AC4F-418D-AE19-62706E023703}">
                    <ahyp:hlinkClr xmlns:ahyp="http://schemas.microsoft.com/office/drawing/2018/hyperlinkcolor" val="tx"/>
                  </a:ext>
                </a:extLst>
              </a:hlinkClick>
            </a:endParaRPr>
          </a:p>
          <a:p>
            <a:endParaRPr lang="en-US" dirty="0"/>
          </a:p>
          <a:p>
            <a:pPr algn="ctr"/>
            <a:endParaRPr lang="en-US"/>
          </a:p>
        </p:txBody>
      </p:sp>
      <p:graphicFrame>
        <p:nvGraphicFramePr>
          <p:cNvPr id="14" name="Diagram 13">
            <a:extLst>
              <a:ext uri="{FF2B5EF4-FFF2-40B4-BE49-F238E27FC236}">
                <a16:creationId xmlns:a16="http://schemas.microsoft.com/office/drawing/2014/main" id="{26626059-B10D-C8B3-1E70-501B944A0E7C}"/>
              </a:ext>
            </a:extLst>
          </p:cNvPr>
          <p:cNvGraphicFramePr/>
          <p:nvPr>
            <p:extLst>
              <p:ext uri="{D42A27DB-BD31-4B8C-83A1-F6EECF244321}">
                <p14:modId xmlns:p14="http://schemas.microsoft.com/office/powerpoint/2010/main" val="744925820"/>
              </p:ext>
            </p:extLst>
          </p:nvPr>
        </p:nvGraphicFramePr>
        <p:xfrm>
          <a:off x="6093948" y="879628"/>
          <a:ext cx="7680157" cy="58032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09" name="Picture 808">
            <a:extLst>
              <a:ext uri="{FF2B5EF4-FFF2-40B4-BE49-F238E27FC236}">
                <a16:creationId xmlns:a16="http://schemas.microsoft.com/office/drawing/2014/main" id="{698FB841-1E4F-8E15-C6AC-6EC727B3820E}"/>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1952624" y="2079326"/>
            <a:ext cx="4876612" cy="27068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7. Examples you should know in 2026</a:t>
            </a:r>
          </a:p>
        </p:txBody>
      </p:sp>
      <p:sp>
        <p:nvSpPr>
          <p:cNvPr id="4" name="TextBox 3"/>
          <p:cNvSpPr txBox="1"/>
          <p:nvPr/>
        </p:nvSpPr>
        <p:spPr>
          <a:xfrm>
            <a:off x="777240" y="1821724"/>
            <a:ext cx="10607040" cy="594360"/>
          </a:xfrm>
          <a:prstGeom prst="rect">
            <a:avLst/>
          </a:prstGeom>
          <a:noFill/>
        </p:spPr>
        <p:txBody>
          <a:bodyPr wrap="none">
            <a:spAutoFit/>
          </a:bodyPr>
          <a:lstStyle/>
          <a:p>
            <a:pPr algn="l"/>
            <a:r>
              <a:rPr sz="2200" b="0"/>
              <a:t>OpenAI: GPT-5.4 — flagship model for complex professional work; 1.05M-token context.</a:t>
            </a:r>
          </a:p>
        </p:txBody>
      </p:sp>
      <p:sp>
        <p:nvSpPr>
          <p:cNvPr id="5" name="TextBox 4"/>
          <p:cNvSpPr txBox="1"/>
          <p:nvPr/>
        </p:nvSpPr>
        <p:spPr>
          <a:xfrm>
            <a:off x="777240" y="2415050"/>
            <a:ext cx="10607040" cy="594360"/>
          </a:xfrm>
          <a:prstGeom prst="rect">
            <a:avLst/>
          </a:prstGeom>
          <a:noFill/>
        </p:spPr>
        <p:txBody>
          <a:bodyPr wrap="none">
            <a:spAutoFit/>
          </a:bodyPr>
          <a:lstStyle/>
          <a:p>
            <a:pPr algn="l"/>
            <a:r>
              <a:rPr sz="2200" b="0"/>
              <a:t>Google: Gemini 3.5 / Gemini Omni — multimodal and action-oriented model direction.</a:t>
            </a:r>
          </a:p>
        </p:txBody>
      </p:sp>
      <p:sp>
        <p:nvSpPr>
          <p:cNvPr id="6" name="TextBox 5"/>
          <p:cNvSpPr txBox="1"/>
          <p:nvPr/>
        </p:nvSpPr>
        <p:spPr>
          <a:xfrm>
            <a:off x="777240" y="3158054"/>
            <a:ext cx="10607040" cy="769441"/>
          </a:xfrm>
          <a:prstGeom prst="rect">
            <a:avLst/>
          </a:prstGeom>
          <a:noFill/>
        </p:spPr>
        <p:txBody>
          <a:bodyPr wrap="square">
            <a:spAutoFit/>
          </a:bodyPr>
          <a:lstStyle/>
          <a:p>
            <a:pPr algn="l"/>
            <a:r>
              <a:rPr sz="2200" b="0"/>
              <a:t>Meta: Llama 4 Scout &amp; Maverick — natively multimodal open-weight models; Scout advertises 10M context.</a:t>
            </a:r>
          </a:p>
        </p:txBody>
      </p:sp>
      <p:sp>
        <p:nvSpPr>
          <p:cNvPr id="7" name="TextBox 6"/>
          <p:cNvSpPr txBox="1"/>
          <p:nvPr/>
        </p:nvSpPr>
        <p:spPr>
          <a:xfrm>
            <a:off x="777240" y="4077951"/>
            <a:ext cx="10607040" cy="594360"/>
          </a:xfrm>
          <a:prstGeom prst="rect">
            <a:avLst/>
          </a:prstGeom>
          <a:noFill/>
        </p:spPr>
        <p:txBody>
          <a:bodyPr wrap="none">
            <a:spAutoFit/>
          </a:bodyPr>
          <a:lstStyle/>
          <a:p>
            <a:pPr algn="l"/>
            <a:r>
              <a:rPr sz="2200" b="0"/>
              <a:t>Anthropic: Claude Fable 5.1 — latest generation highlighted for coding and knowledge work.</a:t>
            </a:r>
          </a:p>
        </p:txBody>
      </p:sp>
      <p:sp>
        <p:nvSpPr>
          <p:cNvPr id="8" name="TextBox 7"/>
          <p:cNvSpPr txBox="1"/>
          <p:nvPr/>
        </p:nvSpPr>
        <p:spPr>
          <a:xfrm>
            <a:off x="777240" y="4678081"/>
            <a:ext cx="10607040" cy="594360"/>
          </a:xfrm>
          <a:prstGeom prst="rect">
            <a:avLst/>
          </a:prstGeom>
          <a:noFill/>
        </p:spPr>
        <p:txBody>
          <a:bodyPr wrap="none">
            <a:spAutoFit/>
          </a:bodyPr>
          <a:lstStyle/>
          <a:p>
            <a:pPr algn="l"/>
            <a:r>
              <a:rPr sz="2200" b="0"/>
              <a:t>NVIDIA: Nemotron 3 / 3.5 — open models aimed at efficient, long-running agents.</a:t>
            </a:r>
          </a:p>
        </p:txBody>
      </p:sp>
      <p:sp>
        <p:nvSpPr>
          <p:cNvPr id="9" name="TextBox 8"/>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0" name="TextBox 9"/>
          <p:cNvSpPr txBox="1"/>
          <p:nvPr/>
        </p:nvSpPr>
        <p:spPr>
          <a:xfrm>
            <a:off x="11155680" y="6446520"/>
            <a:ext cx="457200" cy="228600"/>
          </a:xfrm>
          <a:prstGeom prst="rect">
            <a:avLst/>
          </a:prstGeom>
          <a:noFill/>
        </p:spPr>
        <p:txBody>
          <a:bodyPr wrap="none">
            <a:spAutoFit/>
          </a:bodyPr>
          <a:lstStyle/>
          <a:p>
            <a:pPr algn="r"/>
            <a:r>
              <a:rPr sz="1000" b="0"/>
              <a:t>8</a:t>
            </a:r>
          </a:p>
        </p:txBody>
      </p:sp>
      <p:sp>
        <p:nvSpPr>
          <p:cNvPr id="11" name="TextBox 10">
            <a:extLst>
              <a:ext uri="{FF2B5EF4-FFF2-40B4-BE49-F238E27FC236}">
                <a16:creationId xmlns:a16="http://schemas.microsoft.com/office/drawing/2014/main" id="{BE6BB49C-9ABD-C77A-79A2-313633348D1E}"/>
              </a:ext>
            </a:extLst>
          </p:cNvPr>
          <p:cNvSpPr txBox="1"/>
          <p:nvPr/>
        </p:nvSpPr>
        <p:spPr>
          <a:xfrm>
            <a:off x="551089" y="5803446"/>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pic>
        <p:nvPicPr>
          <p:cNvPr id="12" name="Picture 11">
            <a:extLst>
              <a:ext uri="{FF2B5EF4-FFF2-40B4-BE49-F238E27FC236}">
                <a16:creationId xmlns:a16="http://schemas.microsoft.com/office/drawing/2014/main" id="{FA724459-1243-01E5-0A92-D1A0E7EA6ACF}"/>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932838" y="326571"/>
            <a:ext cx="1138072" cy="892192"/>
          </a:xfrm>
          <a:prstGeom prst="rect">
            <a:avLst/>
          </a:prstGeom>
        </p:spPr>
      </p:pic>
      <p:pic>
        <p:nvPicPr>
          <p:cNvPr id="15" name="Picture 14" descr="Meta takes 49% of Scale in $14.3 Billion AI deal">
            <a:extLst>
              <a:ext uri="{FF2B5EF4-FFF2-40B4-BE49-F238E27FC236}">
                <a16:creationId xmlns:a16="http://schemas.microsoft.com/office/drawing/2014/main" id="{F5F0D57C-6478-ABEC-5778-AC2A91C6457A}"/>
              </a:ext>
            </a:extLst>
          </p:cNvPr>
          <p:cNvPicPr>
            <a:picLocks noChangeAspect="1"/>
          </p:cNvPicPr>
          <p:nvPr/>
        </p:nvPicPr>
        <p:blipFill>
          <a:blip r:embed="rId6"/>
          <a:stretch>
            <a:fillRect/>
          </a:stretch>
        </p:blipFill>
        <p:spPr>
          <a:xfrm>
            <a:off x="9861095" y="322488"/>
            <a:ext cx="913042" cy="865415"/>
          </a:xfrm>
          <a:prstGeom prst="rect">
            <a:avLst/>
          </a:prstGeom>
        </p:spPr>
      </p:pic>
      <p:pic>
        <p:nvPicPr>
          <p:cNvPr id="16" name="Picture 15" descr="Gemini to become default AI assistant on Android from September 2026 ...">
            <a:extLst>
              <a:ext uri="{FF2B5EF4-FFF2-40B4-BE49-F238E27FC236}">
                <a16:creationId xmlns:a16="http://schemas.microsoft.com/office/drawing/2014/main" id="{516AE746-B48C-7967-4F86-4D9406450BFD}"/>
              </a:ext>
            </a:extLst>
          </p:cNvPr>
          <p:cNvPicPr>
            <a:picLocks noChangeAspect="1"/>
          </p:cNvPicPr>
          <p:nvPr/>
        </p:nvPicPr>
        <p:blipFill>
          <a:blip r:embed="rId7"/>
          <a:stretch>
            <a:fillRect/>
          </a:stretch>
        </p:blipFill>
        <p:spPr>
          <a:xfrm>
            <a:off x="8177892" y="333374"/>
            <a:ext cx="1510394" cy="857251"/>
          </a:xfrm>
          <a:prstGeom prst="rect">
            <a:avLst/>
          </a:prstGeom>
        </p:spPr>
      </p:pic>
      <p:pic>
        <p:nvPicPr>
          <p:cNvPr id="17" name="Picture 16" descr="Claude Code Users Are Losing 17% of Their Current Weekly Limits">
            <a:extLst>
              <a:ext uri="{FF2B5EF4-FFF2-40B4-BE49-F238E27FC236}">
                <a16:creationId xmlns:a16="http://schemas.microsoft.com/office/drawing/2014/main" id="{3C12BBFB-D7B9-A19B-7535-7EB04F771ECF}"/>
              </a:ext>
            </a:extLst>
          </p:cNvPr>
          <p:cNvPicPr>
            <a:picLocks noChangeAspect="1"/>
          </p:cNvPicPr>
          <p:nvPr/>
        </p:nvPicPr>
        <p:blipFill>
          <a:blip r:embed="rId8"/>
          <a:stretch>
            <a:fillRect/>
          </a:stretch>
        </p:blipFill>
        <p:spPr>
          <a:xfrm>
            <a:off x="10776857" y="336606"/>
            <a:ext cx="1415143" cy="857592"/>
          </a:xfrm>
          <a:prstGeom prst="rect">
            <a:avLst/>
          </a:prstGeom>
        </p:spPr>
      </p:pic>
      <p:pic>
        <p:nvPicPr>
          <p:cNvPr id="19" name="Picture 18">
            <a:extLst>
              <a:ext uri="{FF2B5EF4-FFF2-40B4-BE49-F238E27FC236}">
                <a16:creationId xmlns:a16="http://schemas.microsoft.com/office/drawing/2014/main" id="{DA751A9A-C73F-95E8-4533-E3BCDC1934C6}"/>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8395605" y="1323294"/>
            <a:ext cx="1728109" cy="496661"/>
          </a:xfrm>
          <a:prstGeom prst="rect">
            <a:avLst/>
          </a:prstGeom>
        </p:spPr>
      </p:pic>
      <p:sp>
        <p:nvSpPr>
          <p:cNvPr id="20" name="TextBox 19">
            <a:extLst>
              <a:ext uri="{FF2B5EF4-FFF2-40B4-BE49-F238E27FC236}">
                <a16:creationId xmlns:a16="http://schemas.microsoft.com/office/drawing/2014/main" id="{DC91D903-14EE-69E1-4442-9D8BBBB8E5B8}"/>
              </a:ext>
            </a:extLst>
          </p:cNvPr>
          <p:cNvSpPr txBox="1"/>
          <p:nvPr/>
        </p:nvSpPr>
        <p:spPr>
          <a:xfrm>
            <a:off x="3238500" y="4167188"/>
            <a:ext cx="5715000" cy="317500"/>
          </a:xfrm>
          <a:prstGeom prst="rect">
            <a:avLst/>
          </a:prstGeom>
        </p:spPr>
        <p:txBody>
          <a:bodyPr>
            <a:normAutofit fontScale="92500" lnSpcReduction="20000"/>
          </a:bodyPr>
          <a:lstStyle/>
          <a:p>
            <a:r>
              <a:rPr lang="en-US"/>
              <a:t>ThePhoto by PhotoAuthor is licensed under CCYYSA.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8. Foundation model ≠ chatbot</a:t>
            </a:r>
          </a:p>
        </p:txBody>
      </p:sp>
      <p:sp>
        <p:nvSpPr>
          <p:cNvPr id="4" name="TextBox 3"/>
          <p:cNvSpPr txBox="1"/>
          <p:nvPr/>
        </p:nvSpPr>
        <p:spPr>
          <a:xfrm>
            <a:off x="777240" y="1814921"/>
            <a:ext cx="10607040" cy="621792"/>
          </a:xfrm>
          <a:prstGeom prst="rect">
            <a:avLst/>
          </a:prstGeom>
          <a:noFill/>
        </p:spPr>
        <p:txBody>
          <a:bodyPr wrap="none">
            <a:spAutoFit/>
          </a:bodyPr>
          <a:lstStyle/>
          <a:p>
            <a:pPr algn="l"/>
            <a:r>
              <a:rPr sz="2100" b="0"/>
              <a:t>• MODEL = the learned capability</a:t>
            </a:r>
          </a:p>
        </p:txBody>
      </p:sp>
      <p:sp>
        <p:nvSpPr>
          <p:cNvPr id="5" name="TextBox 4"/>
          <p:cNvSpPr txBox="1"/>
          <p:nvPr/>
        </p:nvSpPr>
        <p:spPr>
          <a:xfrm>
            <a:off x="777240" y="2317241"/>
            <a:ext cx="10607040" cy="621792"/>
          </a:xfrm>
          <a:prstGeom prst="rect">
            <a:avLst/>
          </a:prstGeom>
          <a:noFill/>
        </p:spPr>
        <p:txBody>
          <a:bodyPr wrap="none">
            <a:spAutoFit/>
          </a:bodyPr>
          <a:lstStyle/>
          <a:p>
            <a:pPr algn="l"/>
            <a:r>
              <a:rPr sz="2100" b="0"/>
              <a:t>• APPLICATION = the product built around the model</a:t>
            </a:r>
          </a:p>
        </p:txBody>
      </p:sp>
      <p:sp>
        <p:nvSpPr>
          <p:cNvPr id="6" name="TextBox 5"/>
          <p:cNvSpPr txBox="1"/>
          <p:nvPr/>
        </p:nvSpPr>
        <p:spPr>
          <a:xfrm>
            <a:off x="777240" y="2935224"/>
            <a:ext cx="10607040" cy="621792"/>
          </a:xfrm>
          <a:prstGeom prst="rect">
            <a:avLst/>
          </a:prstGeom>
          <a:noFill/>
        </p:spPr>
        <p:txBody>
          <a:bodyPr wrap="none">
            <a:spAutoFit/>
          </a:bodyPr>
          <a:lstStyle/>
          <a:p>
            <a:pPr algn="l"/>
            <a:r>
              <a:rPr sz="2100" b="0"/>
              <a:t>• RAG = give the model external knowledge</a:t>
            </a:r>
          </a:p>
        </p:txBody>
      </p:sp>
      <p:sp>
        <p:nvSpPr>
          <p:cNvPr id="7" name="TextBox 6"/>
          <p:cNvSpPr txBox="1"/>
          <p:nvPr/>
        </p:nvSpPr>
        <p:spPr>
          <a:xfrm>
            <a:off x="777240" y="3648456"/>
            <a:ext cx="10607040" cy="621792"/>
          </a:xfrm>
          <a:prstGeom prst="rect">
            <a:avLst/>
          </a:prstGeom>
          <a:noFill/>
        </p:spPr>
        <p:txBody>
          <a:bodyPr wrap="none">
            <a:spAutoFit/>
          </a:bodyPr>
          <a:lstStyle/>
          <a:p>
            <a:pPr algn="l"/>
            <a:r>
              <a:rPr sz="2100" b="0"/>
              <a:t>• TOOLS = let the model take actions</a:t>
            </a:r>
          </a:p>
        </p:txBody>
      </p:sp>
      <p:sp>
        <p:nvSpPr>
          <p:cNvPr id="8" name="TextBox 7"/>
          <p:cNvSpPr txBox="1"/>
          <p:nvPr/>
        </p:nvSpPr>
        <p:spPr>
          <a:xfrm>
            <a:off x="777240" y="4361688"/>
            <a:ext cx="10607040" cy="621792"/>
          </a:xfrm>
          <a:prstGeom prst="rect">
            <a:avLst/>
          </a:prstGeom>
          <a:noFill/>
        </p:spPr>
        <p:txBody>
          <a:bodyPr wrap="none">
            <a:spAutoFit/>
          </a:bodyPr>
          <a:lstStyle/>
          <a:p>
            <a:pPr algn="l"/>
            <a:r>
              <a:rPr sz="2100" b="0"/>
              <a:t>• AGENT = model + tools + loop + state/memory</a:t>
            </a:r>
          </a:p>
        </p:txBody>
      </p:sp>
      <p:sp>
        <p:nvSpPr>
          <p:cNvPr id="9" name="TextBox 8"/>
          <p:cNvSpPr txBox="1"/>
          <p:nvPr/>
        </p:nvSpPr>
        <p:spPr>
          <a:xfrm>
            <a:off x="777240" y="5074920"/>
            <a:ext cx="10607040" cy="621792"/>
          </a:xfrm>
          <a:prstGeom prst="rect">
            <a:avLst/>
          </a:prstGeom>
          <a:noFill/>
        </p:spPr>
        <p:txBody>
          <a:bodyPr wrap="none">
            <a:spAutoFit/>
          </a:bodyPr>
          <a:lstStyle/>
          <a:p>
            <a:pPr algn="l"/>
            <a:r>
              <a:rPr sz="2100" b="0"/>
              <a:t>• This distinction is one of the most important ideas for an AI engineer.</a:t>
            </a:r>
          </a:p>
        </p:txBody>
      </p:sp>
      <p:sp>
        <p:nvSpPr>
          <p:cNvPr id="10" name="TextBox 9"/>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1" name="TextBox 10"/>
          <p:cNvSpPr txBox="1"/>
          <p:nvPr/>
        </p:nvSpPr>
        <p:spPr>
          <a:xfrm>
            <a:off x="11155680" y="6446520"/>
            <a:ext cx="457200" cy="228600"/>
          </a:xfrm>
          <a:prstGeom prst="rect">
            <a:avLst/>
          </a:prstGeom>
          <a:noFill/>
        </p:spPr>
        <p:txBody>
          <a:bodyPr wrap="none">
            <a:spAutoFit/>
          </a:bodyPr>
          <a:lstStyle/>
          <a:p>
            <a:pPr algn="r"/>
            <a:r>
              <a:rPr sz="1000" b="0"/>
              <a:t>9</a:t>
            </a:r>
          </a:p>
        </p:txBody>
      </p:sp>
      <p:sp>
        <p:nvSpPr>
          <p:cNvPr id="12" name="TextBox 11">
            <a:extLst>
              <a:ext uri="{FF2B5EF4-FFF2-40B4-BE49-F238E27FC236}">
                <a16:creationId xmlns:a16="http://schemas.microsoft.com/office/drawing/2014/main" id="{32852118-3611-18F1-01A7-22CE8C841089}"/>
              </a:ext>
            </a:extLst>
          </p:cNvPr>
          <p:cNvSpPr txBox="1"/>
          <p:nvPr/>
        </p:nvSpPr>
        <p:spPr>
          <a:xfrm>
            <a:off x="551089" y="61232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9. What are the hard problems?</a:t>
            </a:r>
          </a:p>
        </p:txBody>
      </p:sp>
      <p:sp>
        <p:nvSpPr>
          <p:cNvPr id="4" name="TextBox 3"/>
          <p:cNvSpPr txBox="1"/>
          <p:nvPr/>
        </p:nvSpPr>
        <p:spPr>
          <a:xfrm>
            <a:off x="777240" y="1910171"/>
            <a:ext cx="10607040" cy="621792"/>
          </a:xfrm>
          <a:prstGeom prst="rect">
            <a:avLst/>
          </a:prstGeom>
          <a:noFill/>
        </p:spPr>
        <p:txBody>
          <a:bodyPr wrap="none">
            <a:spAutoFit/>
          </a:bodyPr>
          <a:lstStyle/>
          <a:p>
            <a:pPr algn="l"/>
            <a:r>
              <a:rPr sz="2100" b="0"/>
              <a:t>• Hallucination: a fluent answer can still be wrong.</a:t>
            </a:r>
          </a:p>
        </p:txBody>
      </p:sp>
      <p:sp>
        <p:nvSpPr>
          <p:cNvPr id="5" name="TextBox 4"/>
          <p:cNvSpPr txBox="1"/>
          <p:nvPr/>
        </p:nvSpPr>
        <p:spPr>
          <a:xfrm>
            <a:off x="777240" y="2439705"/>
            <a:ext cx="10607040" cy="621792"/>
          </a:xfrm>
          <a:prstGeom prst="rect">
            <a:avLst/>
          </a:prstGeom>
          <a:noFill/>
        </p:spPr>
        <p:txBody>
          <a:bodyPr wrap="none">
            <a:spAutoFit/>
          </a:bodyPr>
          <a:lstStyle/>
          <a:p>
            <a:pPr algn="l"/>
            <a:r>
              <a:rPr sz="2100" b="0"/>
              <a:t>• Bias &amp; safety: training data and model behavior can create risks.</a:t>
            </a:r>
          </a:p>
        </p:txBody>
      </p:sp>
      <p:sp>
        <p:nvSpPr>
          <p:cNvPr id="6" name="TextBox 5"/>
          <p:cNvSpPr txBox="1"/>
          <p:nvPr/>
        </p:nvSpPr>
        <p:spPr>
          <a:xfrm>
            <a:off x="777240" y="2935224"/>
            <a:ext cx="10607040" cy="621792"/>
          </a:xfrm>
          <a:prstGeom prst="rect">
            <a:avLst/>
          </a:prstGeom>
          <a:noFill/>
        </p:spPr>
        <p:txBody>
          <a:bodyPr wrap="none">
            <a:spAutoFit/>
          </a:bodyPr>
          <a:lstStyle/>
          <a:p>
            <a:pPr algn="l"/>
            <a:r>
              <a:rPr sz="2100" b="0"/>
              <a:t>• Privacy: sensitive data must be handled carefully.</a:t>
            </a:r>
          </a:p>
        </p:txBody>
      </p:sp>
      <p:sp>
        <p:nvSpPr>
          <p:cNvPr id="7" name="TextBox 6"/>
          <p:cNvSpPr txBox="1"/>
          <p:nvPr/>
        </p:nvSpPr>
        <p:spPr>
          <a:xfrm>
            <a:off x="777240" y="3648456"/>
            <a:ext cx="10607040" cy="621792"/>
          </a:xfrm>
          <a:prstGeom prst="rect">
            <a:avLst/>
          </a:prstGeom>
          <a:noFill/>
        </p:spPr>
        <p:txBody>
          <a:bodyPr wrap="none">
            <a:spAutoFit/>
          </a:bodyPr>
          <a:lstStyle/>
          <a:p>
            <a:pPr algn="l"/>
            <a:r>
              <a:rPr sz="2100" b="0"/>
              <a:t>• Cost &amp; latency: large models can be expensive to run.</a:t>
            </a:r>
          </a:p>
        </p:txBody>
      </p:sp>
      <p:sp>
        <p:nvSpPr>
          <p:cNvPr id="8" name="TextBox 7"/>
          <p:cNvSpPr txBox="1"/>
          <p:nvPr/>
        </p:nvSpPr>
        <p:spPr>
          <a:xfrm>
            <a:off x="777240" y="4361688"/>
            <a:ext cx="10607040" cy="621792"/>
          </a:xfrm>
          <a:prstGeom prst="rect">
            <a:avLst/>
          </a:prstGeom>
          <a:noFill/>
        </p:spPr>
        <p:txBody>
          <a:bodyPr wrap="none">
            <a:spAutoFit/>
          </a:bodyPr>
          <a:lstStyle/>
          <a:p>
            <a:pPr algn="l"/>
            <a:r>
              <a:rPr sz="2100" b="0"/>
              <a:t>• Evaluation: benchmark scores do not automatically equal real-world reliability.</a:t>
            </a:r>
          </a:p>
        </p:txBody>
      </p:sp>
      <p:sp>
        <p:nvSpPr>
          <p:cNvPr id="9" name="TextBox 8"/>
          <p:cNvSpPr txBox="1"/>
          <p:nvPr/>
        </p:nvSpPr>
        <p:spPr>
          <a:xfrm>
            <a:off x="777240" y="5074920"/>
            <a:ext cx="10607040" cy="621792"/>
          </a:xfrm>
          <a:prstGeom prst="rect">
            <a:avLst/>
          </a:prstGeom>
          <a:noFill/>
        </p:spPr>
        <p:txBody>
          <a:bodyPr wrap="none">
            <a:spAutoFit/>
          </a:bodyPr>
          <a:lstStyle/>
          <a:p>
            <a:pPr algn="l"/>
            <a:r>
              <a:rPr sz="2100" b="0"/>
              <a:t>• Security: tool-using agents create a larger attack surface.</a:t>
            </a:r>
          </a:p>
        </p:txBody>
      </p:sp>
      <p:sp>
        <p:nvSpPr>
          <p:cNvPr id="10" name="TextBox 9"/>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1" name="TextBox 10"/>
          <p:cNvSpPr txBox="1"/>
          <p:nvPr/>
        </p:nvSpPr>
        <p:spPr>
          <a:xfrm>
            <a:off x="11155680" y="6446520"/>
            <a:ext cx="457200" cy="228600"/>
          </a:xfrm>
          <a:prstGeom prst="rect">
            <a:avLst/>
          </a:prstGeom>
          <a:noFill/>
        </p:spPr>
        <p:txBody>
          <a:bodyPr wrap="none">
            <a:spAutoFit/>
          </a:bodyPr>
          <a:lstStyle/>
          <a:p>
            <a:pPr algn="r"/>
            <a:r>
              <a:rPr sz="1000" b="0"/>
              <a:t>10</a:t>
            </a:r>
          </a:p>
        </p:txBody>
      </p:sp>
      <p:sp>
        <p:nvSpPr>
          <p:cNvPr id="12" name="TextBox 11">
            <a:extLst>
              <a:ext uri="{FF2B5EF4-FFF2-40B4-BE49-F238E27FC236}">
                <a16:creationId xmlns:a16="http://schemas.microsoft.com/office/drawing/2014/main" id="{BE394144-AF18-17B1-CBCF-3E35CCB484F7}"/>
              </a:ext>
            </a:extLst>
          </p:cNvPr>
          <p:cNvSpPr txBox="1"/>
          <p:nvPr/>
        </p:nvSpPr>
        <p:spPr>
          <a:xfrm>
            <a:off x="551089" y="61232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10. The future: smaller, smarter, more agentic</a:t>
            </a:r>
          </a:p>
        </p:txBody>
      </p:sp>
      <p:sp>
        <p:nvSpPr>
          <p:cNvPr id="4" name="TextBox 3"/>
          <p:cNvSpPr txBox="1"/>
          <p:nvPr/>
        </p:nvSpPr>
        <p:spPr>
          <a:xfrm>
            <a:off x="777240" y="1910171"/>
            <a:ext cx="10607040" cy="621792"/>
          </a:xfrm>
          <a:prstGeom prst="rect">
            <a:avLst/>
          </a:prstGeom>
          <a:noFill/>
        </p:spPr>
        <p:txBody>
          <a:bodyPr wrap="none">
            <a:spAutoFit/>
          </a:bodyPr>
          <a:lstStyle/>
          <a:p>
            <a:pPr algn="l"/>
            <a:r>
              <a:rPr sz="2100" b="0"/>
              <a:t>• The direction is not simply “make the model bigger.”</a:t>
            </a:r>
          </a:p>
        </p:txBody>
      </p:sp>
      <p:sp>
        <p:nvSpPr>
          <p:cNvPr id="5" name="TextBox 4"/>
          <p:cNvSpPr txBox="1"/>
          <p:nvPr/>
        </p:nvSpPr>
        <p:spPr>
          <a:xfrm>
            <a:off x="777240" y="2317241"/>
            <a:ext cx="10607040" cy="621792"/>
          </a:xfrm>
          <a:prstGeom prst="rect">
            <a:avLst/>
          </a:prstGeom>
          <a:noFill/>
        </p:spPr>
        <p:txBody>
          <a:bodyPr wrap="none">
            <a:spAutoFit/>
          </a:bodyPr>
          <a:lstStyle/>
          <a:p>
            <a:pPr algn="l"/>
            <a:r>
              <a:rPr sz="2100" b="0"/>
              <a:t>• Expect stronger reasoning, multimodality, tool use and long-running agents.</a:t>
            </a:r>
          </a:p>
        </p:txBody>
      </p:sp>
      <p:sp>
        <p:nvSpPr>
          <p:cNvPr id="6" name="TextBox 5"/>
          <p:cNvSpPr txBox="1"/>
          <p:nvPr/>
        </p:nvSpPr>
        <p:spPr>
          <a:xfrm>
            <a:off x="777240" y="2935224"/>
            <a:ext cx="10607040" cy="621792"/>
          </a:xfrm>
          <a:prstGeom prst="rect">
            <a:avLst/>
          </a:prstGeom>
          <a:noFill/>
        </p:spPr>
        <p:txBody>
          <a:bodyPr wrap="none">
            <a:spAutoFit/>
          </a:bodyPr>
          <a:lstStyle/>
          <a:p>
            <a:pPr algn="l"/>
            <a:r>
              <a:rPr sz="2100" b="0"/>
              <a:t>• Efficiency matters: smaller models, MoE architectures, better inference and specialized models.</a:t>
            </a:r>
          </a:p>
        </p:txBody>
      </p:sp>
      <p:sp>
        <p:nvSpPr>
          <p:cNvPr id="7" name="TextBox 6"/>
          <p:cNvSpPr txBox="1"/>
          <p:nvPr/>
        </p:nvSpPr>
        <p:spPr>
          <a:xfrm>
            <a:off x="777240" y="3648456"/>
            <a:ext cx="10607040" cy="621792"/>
          </a:xfrm>
          <a:prstGeom prst="rect">
            <a:avLst/>
          </a:prstGeom>
          <a:noFill/>
        </p:spPr>
        <p:txBody>
          <a:bodyPr wrap="none">
            <a:spAutoFit/>
          </a:bodyPr>
          <a:lstStyle/>
          <a:p>
            <a:pPr algn="l"/>
            <a:r>
              <a:rPr sz="2100" b="0"/>
              <a:t>• The winning system is often MODEL + DATA + TOOLS + EVALUATION — not the model alone.</a:t>
            </a:r>
          </a:p>
        </p:txBody>
      </p:sp>
      <p:sp>
        <p:nvSpPr>
          <p:cNvPr id="8" name="TextBox 7"/>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9" name="TextBox 8"/>
          <p:cNvSpPr txBox="1"/>
          <p:nvPr/>
        </p:nvSpPr>
        <p:spPr>
          <a:xfrm>
            <a:off x="11155680" y="6446520"/>
            <a:ext cx="457200" cy="228600"/>
          </a:xfrm>
          <a:prstGeom prst="rect">
            <a:avLst/>
          </a:prstGeom>
          <a:noFill/>
        </p:spPr>
        <p:txBody>
          <a:bodyPr wrap="none">
            <a:spAutoFit/>
          </a:bodyPr>
          <a:lstStyle/>
          <a:p>
            <a:pPr algn="r"/>
            <a:r>
              <a:rPr sz="1000" b="0"/>
              <a:t>11</a:t>
            </a:r>
          </a:p>
        </p:txBody>
      </p:sp>
      <p:sp>
        <p:nvSpPr>
          <p:cNvPr id="10" name="TextBox 9">
            <a:extLst>
              <a:ext uri="{FF2B5EF4-FFF2-40B4-BE49-F238E27FC236}">
                <a16:creationId xmlns:a16="http://schemas.microsoft.com/office/drawing/2014/main" id="{C3E792A6-AFF5-A327-5552-6A2195F40238}"/>
              </a:ext>
            </a:extLst>
          </p:cNvPr>
          <p:cNvSpPr txBox="1"/>
          <p:nvPr/>
        </p:nvSpPr>
        <p:spPr>
          <a:xfrm>
            <a:off x="551089" y="61232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11. One-minute cheat sheet</a:t>
            </a:r>
          </a:p>
        </p:txBody>
      </p:sp>
      <p:sp>
        <p:nvSpPr>
          <p:cNvPr id="4" name="TextBox 3"/>
          <p:cNvSpPr txBox="1"/>
          <p:nvPr/>
        </p:nvSpPr>
        <p:spPr>
          <a:xfrm>
            <a:off x="777240" y="1910171"/>
            <a:ext cx="10607040" cy="621792"/>
          </a:xfrm>
          <a:prstGeom prst="rect">
            <a:avLst/>
          </a:prstGeom>
          <a:noFill/>
        </p:spPr>
        <p:txBody>
          <a:bodyPr wrap="none">
            <a:spAutoFit/>
          </a:bodyPr>
          <a:lstStyle/>
          <a:p>
            <a:pPr algn="l"/>
            <a:r>
              <a:rPr sz="2100" b="0"/>
              <a:t>• Foundation model = reusable AI base trained at large scale.</a:t>
            </a:r>
          </a:p>
        </p:txBody>
      </p:sp>
      <p:sp>
        <p:nvSpPr>
          <p:cNvPr id="5" name="TextBox 4"/>
          <p:cNvSpPr txBox="1"/>
          <p:nvPr/>
        </p:nvSpPr>
        <p:spPr>
          <a:xfrm>
            <a:off x="777240" y="2358062"/>
            <a:ext cx="10607040" cy="621792"/>
          </a:xfrm>
          <a:prstGeom prst="rect">
            <a:avLst/>
          </a:prstGeom>
          <a:noFill/>
        </p:spPr>
        <p:txBody>
          <a:bodyPr wrap="none">
            <a:spAutoFit/>
          </a:bodyPr>
          <a:lstStyle/>
          <a:p>
            <a:pPr algn="l"/>
            <a:r>
              <a:rPr sz="2100" b="0"/>
              <a:t>• Pretraining = learn broad patterns.</a:t>
            </a:r>
          </a:p>
        </p:txBody>
      </p:sp>
      <p:sp>
        <p:nvSpPr>
          <p:cNvPr id="6" name="TextBox 5"/>
          <p:cNvSpPr txBox="1"/>
          <p:nvPr/>
        </p:nvSpPr>
        <p:spPr>
          <a:xfrm>
            <a:off x="777240" y="2805956"/>
            <a:ext cx="10607040" cy="621792"/>
          </a:xfrm>
          <a:prstGeom prst="rect">
            <a:avLst/>
          </a:prstGeom>
          <a:noFill/>
        </p:spPr>
        <p:txBody>
          <a:bodyPr wrap="none">
            <a:spAutoFit/>
          </a:bodyPr>
          <a:lstStyle/>
          <a:p>
            <a:pPr algn="l"/>
            <a:r>
              <a:rPr sz="2100" b="0"/>
              <a:t>• Post-training = make behavior useful and safer.</a:t>
            </a:r>
          </a:p>
        </p:txBody>
      </p:sp>
      <p:sp>
        <p:nvSpPr>
          <p:cNvPr id="7" name="TextBox 6"/>
          <p:cNvSpPr txBox="1"/>
          <p:nvPr/>
        </p:nvSpPr>
        <p:spPr>
          <a:xfrm>
            <a:off x="777240" y="3158598"/>
            <a:ext cx="10607040" cy="621792"/>
          </a:xfrm>
          <a:prstGeom prst="rect">
            <a:avLst/>
          </a:prstGeom>
          <a:noFill/>
        </p:spPr>
        <p:txBody>
          <a:bodyPr wrap="none">
            <a:spAutoFit/>
          </a:bodyPr>
          <a:lstStyle/>
          <a:p>
            <a:pPr algn="l"/>
            <a:r>
              <a:rPr sz="2100" b="0"/>
              <a:t>• Prompting = tell it what to do.</a:t>
            </a:r>
          </a:p>
        </p:txBody>
      </p:sp>
      <p:sp>
        <p:nvSpPr>
          <p:cNvPr id="8" name="TextBox 7"/>
          <p:cNvSpPr txBox="1"/>
          <p:nvPr/>
        </p:nvSpPr>
        <p:spPr>
          <a:xfrm>
            <a:off x="777240" y="3599688"/>
            <a:ext cx="10607040" cy="621792"/>
          </a:xfrm>
          <a:prstGeom prst="rect">
            <a:avLst/>
          </a:prstGeom>
          <a:noFill/>
        </p:spPr>
        <p:txBody>
          <a:bodyPr wrap="none">
            <a:spAutoFit/>
          </a:bodyPr>
          <a:lstStyle/>
          <a:p>
            <a:pPr algn="l"/>
            <a:r>
              <a:rPr sz="2100" b="0"/>
              <a:t>• RAG = give it external information.</a:t>
            </a:r>
          </a:p>
        </p:txBody>
      </p:sp>
      <p:sp>
        <p:nvSpPr>
          <p:cNvPr id="9" name="TextBox 8"/>
          <p:cNvSpPr txBox="1"/>
          <p:nvPr/>
        </p:nvSpPr>
        <p:spPr>
          <a:xfrm>
            <a:off x="777240" y="4061187"/>
            <a:ext cx="10607040" cy="621792"/>
          </a:xfrm>
          <a:prstGeom prst="rect">
            <a:avLst/>
          </a:prstGeom>
          <a:noFill/>
        </p:spPr>
        <p:txBody>
          <a:bodyPr wrap="none">
            <a:spAutoFit/>
          </a:bodyPr>
          <a:lstStyle/>
          <a:p>
            <a:pPr algn="l"/>
            <a:r>
              <a:rPr sz="2100" b="0"/>
              <a:t>• Fine-tuning = specialize its behavior.</a:t>
            </a:r>
          </a:p>
        </p:txBody>
      </p:sp>
      <p:sp>
        <p:nvSpPr>
          <p:cNvPr id="10" name="TextBox 9"/>
          <p:cNvSpPr txBox="1"/>
          <p:nvPr/>
        </p:nvSpPr>
        <p:spPr>
          <a:xfrm>
            <a:off x="777240" y="4679170"/>
            <a:ext cx="10607040" cy="621792"/>
          </a:xfrm>
          <a:prstGeom prst="rect">
            <a:avLst/>
          </a:prstGeom>
          <a:noFill/>
        </p:spPr>
        <p:txBody>
          <a:bodyPr wrap="none">
            <a:spAutoFit/>
          </a:bodyPr>
          <a:lstStyle/>
          <a:p>
            <a:pPr algn="l"/>
            <a:r>
              <a:rPr sz="2100" b="0"/>
              <a:t>• Tools = let it interact with the world.</a:t>
            </a:r>
          </a:p>
        </p:txBody>
      </p:sp>
      <p:sp>
        <p:nvSpPr>
          <p:cNvPr id="11" name="TextBox 10"/>
          <p:cNvSpPr txBox="1"/>
          <p:nvPr/>
        </p:nvSpPr>
        <p:spPr>
          <a:xfrm>
            <a:off x="777240" y="5154277"/>
            <a:ext cx="10607040" cy="621792"/>
          </a:xfrm>
          <a:prstGeom prst="rect">
            <a:avLst/>
          </a:prstGeom>
          <a:noFill/>
        </p:spPr>
        <p:txBody>
          <a:bodyPr wrap="none">
            <a:spAutoFit/>
          </a:bodyPr>
          <a:lstStyle/>
          <a:p>
            <a:pPr algn="l"/>
            <a:r>
              <a:rPr sz="2100" b="0"/>
              <a:t>• Agent = model + tools + iterative decision/action loop.</a:t>
            </a:r>
          </a:p>
        </p:txBody>
      </p:sp>
      <p:sp>
        <p:nvSpPr>
          <p:cNvPr id="12" name="TextBox 11"/>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3" name="TextBox 12"/>
          <p:cNvSpPr txBox="1"/>
          <p:nvPr/>
        </p:nvSpPr>
        <p:spPr>
          <a:xfrm>
            <a:off x="11155680" y="6446520"/>
            <a:ext cx="457200" cy="228600"/>
          </a:xfrm>
          <a:prstGeom prst="rect">
            <a:avLst/>
          </a:prstGeom>
          <a:noFill/>
        </p:spPr>
        <p:txBody>
          <a:bodyPr wrap="none">
            <a:spAutoFit/>
          </a:bodyPr>
          <a:lstStyle/>
          <a:p>
            <a:pPr algn="r"/>
            <a:r>
              <a:rPr sz="1000" b="0"/>
              <a:t>12</a:t>
            </a:r>
          </a:p>
        </p:txBody>
      </p:sp>
      <p:sp>
        <p:nvSpPr>
          <p:cNvPr id="14" name="TextBox 13">
            <a:extLst>
              <a:ext uri="{FF2B5EF4-FFF2-40B4-BE49-F238E27FC236}">
                <a16:creationId xmlns:a16="http://schemas.microsoft.com/office/drawing/2014/main" id="{177F330D-CF79-9BC2-997C-CB8664618573}"/>
              </a:ext>
            </a:extLst>
          </p:cNvPr>
          <p:cNvSpPr txBox="1"/>
          <p:nvPr/>
        </p:nvSpPr>
        <p:spPr>
          <a:xfrm>
            <a:off x="551089" y="61232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10972800" cy="685800"/>
          </a:xfrm>
          <a:prstGeom prst="rect">
            <a:avLst/>
          </a:prstGeom>
          <a:noFill/>
        </p:spPr>
        <p:txBody>
          <a:bodyPr wrap="none">
            <a:spAutoFit/>
          </a:bodyPr>
          <a:lstStyle/>
          <a:p>
            <a:pPr algn="l"/>
            <a:r>
              <a:rPr sz="3000" b="1"/>
              <a:t>12. Closing</a:t>
            </a:r>
          </a:p>
        </p:txBody>
      </p:sp>
      <p:sp>
        <p:nvSpPr>
          <p:cNvPr id="4" name="TextBox 3"/>
          <p:cNvSpPr txBox="1"/>
          <p:nvPr/>
        </p:nvSpPr>
        <p:spPr>
          <a:xfrm>
            <a:off x="790847" y="1821724"/>
            <a:ext cx="10607040" cy="621792"/>
          </a:xfrm>
          <a:prstGeom prst="rect">
            <a:avLst/>
          </a:prstGeom>
          <a:noFill/>
        </p:spPr>
        <p:txBody>
          <a:bodyPr wrap="none">
            <a:spAutoFit/>
          </a:bodyPr>
          <a:lstStyle/>
          <a:p>
            <a:pPr algn="l"/>
            <a:r>
              <a:rPr sz="2100" b="0"/>
              <a:t>• The big shift:</a:t>
            </a:r>
          </a:p>
        </p:txBody>
      </p:sp>
      <p:sp>
        <p:nvSpPr>
          <p:cNvPr id="5" name="TextBox 4"/>
          <p:cNvSpPr txBox="1"/>
          <p:nvPr/>
        </p:nvSpPr>
        <p:spPr>
          <a:xfrm>
            <a:off x="777240" y="2439705"/>
            <a:ext cx="10607040" cy="621792"/>
          </a:xfrm>
          <a:prstGeom prst="rect">
            <a:avLst/>
          </a:prstGeom>
          <a:noFill/>
        </p:spPr>
        <p:txBody>
          <a:bodyPr wrap="none">
            <a:spAutoFit/>
          </a:bodyPr>
          <a:lstStyle/>
          <a:p>
            <a:pPr algn="l"/>
            <a:r>
              <a:rPr sz="2100" b="0"/>
              <a:t>• 2020s AI started with “What can this model generate?”</a:t>
            </a:r>
          </a:p>
        </p:txBody>
      </p:sp>
      <p:sp>
        <p:nvSpPr>
          <p:cNvPr id="6" name="TextBox 5"/>
          <p:cNvSpPr txBox="1"/>
          <p:nvPr/>
        </p:nvSpPr>
        <p:spPr>
          <a:xfrm>
            <a:off x="777240" y="2935224"/>
            <a:ext cx="10607040" cy="621792"/>
          </a:xfrm>
          <a:prstGeom prst="rect">
            <a:avLst/>
          </a:prstGeom>
          <a:noFill/>
        </p:spPr>
        <p:txBody>
          <a:bodyPr wrap="none">
            <a:spAutoFit/>
          </a:bodyPr>
          <a:lstStyle/>
          <a:p>
            <a:pPr algn="l"/>
            <a:r>
              <a:rPr sz="2100" b="0"/>
              <a:t>• 2026 AI is increasingly about “What can this model accomplish?”</a:t>
            </a:r>
          </a:p>
        </p:txBody>
      </p:sp>
      <p:sp>
        <p:nvSpPr>
          <p:cNvPr id="7" name="TextBox 6"/>
          <p:cNvSpPr txBox="1"/>
          <p:nvPr/>
        </p:nvSpPr>
        <p:spPr>
          <a:xfrm>
            <a:off x="777240" y="3648456"/>
            <a:ext cx="10607040" cy="621792"/>
          </a:xfrm>
          <a:prstGeom prst="rect">
            <a:avLst/>
          </a:prstGeom>
          <a:noFill/>
        </p:spPr>
        <p:txBody>
          <a:bodyPr wrap="none">
            <a:spAutoFit/>
          </a:bodyPr>
          <a:lstStyle/>
          <a:p>
            <a:pPr algn="l"/>
            <a:r>
              <a:rPr sz="2100" b="0"/>
              <a:t>• If you understand foundation models, you understand the base layer behind modern GenAI systems.</a:t>
            </a:r>
          </a:p>
        </p:txBody>
      </p:sp>
      <p:sp>
        <p:nvSpPr>
          <p:cNvPr id="8" name="TextBox 7"/>
          <p:cNvSpPr txBox="1"/>
          <p:nvPr/>
        </p:nvSpPr>
        <p:spPr>
          <a:xfrm>
            <a:off x="777240" y="4361688"/>
            <a:ext cx="5230214" cy="415498"/>
          </a:xfrm>
          <a:prstGeom prst="rect">
            <a:avLst/>
          </a:prstGeom>
          <a:noFill/>
        </p:spPr>
        <p:txBody>
          <a:bodyPr wrap="none" lIns="91440" tIns="45720" rIns="91440" bIns="45720" anchor="t">
            <a:spAutoFit/>
          </a:bodyPr>
          <a:lstStyle/>
          <a:p>
            <a:r>
              <a:rPr lang="en-US" sz="2100" dirty="0"/>
              <a:t>• Next: build a tiny RAG + tool-using AI agent.</a:t>
            </a:r>
            <a:endParaRPr lang="en-US" dirty="0"/>
          </a:p>
        </p:txBody>
      </p:sp>
      <p:sp>
        <p:nvSpPr>
          <p:cNvPr id="9" name="TextBox 8"/>
          <p:cNvSpPr txBox="1"/>
          <p:nvPr/>
        </p:nvSpPr>
        <p:spPr>
          <a:xfrm>
            <a:off x="548640" y="6446520"/>
            <a:ext cx="7315200" cy="228600"/>
          </a:xfrm>
          <a:prstGeom prst="rect">
            <a:avLst/>
          </a:prstGeom>
          <a:noFill/>
        </p:spPr>
        <p:txBody>
          <a:bodyPr wrap="none">
            <a:spAutoFit/>
          </a:bodyPr>
          <a:lstStyle/>
          <a:p>
            <a:pPr algn="l"/>
            <a:r>
              <a:rPr sz="1000" b="0"/>
              <a:t>Foundation Models • YouTube Edition • Sep 2026</a:t>
            </a:r>
          </a:p>
        </p:txBody>
      </p:sp>
      <p:sp>
        <p:nvSpPr>
          <p:cNvPr id="10" name="TextBox 9"/>
          <p:cNvSpPr txBox="1"/>
          <p:nvPr/>
        </p:nvSpPr>
        <p:spPr>
          <a:xfrm>
            <a:off x="11155680" y="6446520"/>
            <a:ext cx="457200" cy="228600"/>
          </a:xfrm>
          <a:prstGeom prst="rect">
            <a:avLst/>
          </a:prstGeom>
          <a:noFill/>
        </p:spPr>
        <p:txBody>
          <a:bodyPr wrap="none">
            <a:spAutoFit/>
          </a:bodyPr>
          <a:lstStyle/>
          <a:p>
            <a:pPr algn="r"/>
            <a:r>
              <a:rPr sz="1000" b="0"/>
              <a:t>13</a:t>
            </a:r>
          </a:p>
        </p:txBody>
      </p:sp>
      <p:sp>
        <p:nvSpPr>
          <p:cNvPr id="11" name="TextBox 10">
            <a:extLst>
              <a:ext uri="{FF2B5EF4-FFF2-40B4-BE49-F238E27FC236}">
                <a16:creationId xmlns:a16="http://schemas.microsoft.com/office/drawing/2014/main" id="{E3E465DC-1648-6A66-51CF-6A89F7C2046D}"/>
              </a:ext>
            </a:extLst>
          </p:cNvPr>
          <p:cNvSpPr txBox="1"/>
          <p:nvPr/>
        </p:nvSpPr>
        <p:spPr>
          <a:xfrm>
            <a:off x="551089" y="61232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https://www.praneethbadanapally.com/</a:t>
            </a:r>
          </a:p>
          <a:p>
            <a:endParaRPr lang="en-US" dirty="0">
              <a:solidFill>
                <a:srgbClr val="0070C0"/>
              </a:solidFill>
            </a:endParaRPr>
          </a:p>
          <a:p>
            <a:pPr algn="ctr"/>
            <a:endParaRPr lang="en-US" dirty="0">
              <a:solidFill>
                <a:srgbClr val="0070C0"/>
              </a:solidFill>
            </a:endParaRPr>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panose="02020502050305020303"/>
        <a:ea typeface=""/>
        <a:cs typeface=""/>
      </a:minorFont>
    </a:fontScheme>
    <a:fmtScheme name="Archway">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15BC1FC9-F32C-4048-9052-439CED41F932}" vid="{4FF12325-B8E7-401C-AF33-78C72DDA2C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243</cp:revision>
  <dcterms:created xsi:type="dcterms:W3CDTF">2013-01-27T09:14:16Z</dcterms:created>
  <dcterms:modified xsi:type="dcterms:W3CDTF">2026-09-14T17:35:02Z</dcterms:modified>
  <cp:category/>
</cp:coreProperties>
</file>